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062CE64-0FA9-4D28-B2C3-F49FA6B3B7A5}">
  <a:tblStyle styleId="{5062CE64-0FA9-4D28-B2C3-F49FA6B3B7A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5" Type="http://schemas.openxmlformats.org/officeDocument/2006/relationships/slide" Target="slides/slide19.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57c38e551b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57c38e551b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57c38e551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57c38e551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57c38e551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57c38e551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58968286c1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58968286c1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58968286c1_2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58968286c1_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57c38e551b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57c38e551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57c38e551b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57c38e551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58968286c1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58968286c1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58968286c1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58968286c1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58968286c1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58968286c1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57c38e551b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57c38e551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57c38e551b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57c38e551b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58968286c1_3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58968286c1_3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58968286c1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58968286c1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58968286c1_3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58968286c1_3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58968286c1_3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58968286c1_3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58968286c1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58968286c1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58968286c1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58968286c1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7454650" y="2444475"/>
            <a:ext cx="15717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6.jpg"/><Relationship Id="rId4" Type="http://schemas.openxmlformats.org/officeDocument/2006/relationships/image" Target="../media/image24.jpg"/><Relationship Id="rId5" Type="http://schemas.openxmlformats.org/officeDocument/2006/relationships/image" Target="../media/image11.jpg"/><Relationship Id="rId6" Type="http://schemas.openxmlformats.org/officeDocument/2006/relationships/image" Target="../media/image10.jpg"/><Relationship Id="rId7"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jpg"/><Relationship Id="rId4" Type="http://schemas.openxmlformats.org/officeDocument/2006/relationships/hyperlink" Target="http://drive.google.com/file/d/1qmzkcST0nuuv_qN-xTTyRpOG_VY0QAu0/view" TargetMode="External"/><Relationship Id="rId5" Type="http://schemas.openxmlformats.org/officeDocument/2006/relationships/image" Target="../media/image1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3.jpg"/><Relationship Id="rId4" Type="http://schemas.openxmlformats.org/officeDocument/2006/relationships/image" Target="../media/image1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3.jpg"/><Relationship Id="rId4" Type="http://schemas.openxmlformats.org/officeDocument/2006/relationships/hyperlink" Target="http://drive.google.com/file/d/1QpRWydRIx41n959oOJkKV2k2HEGN2sVZ/view" TargetMode="External"/><Relationship Id="rId5" Type="http://schemas.openxmlformats.org/officeDocument/2006/relationships/image" Target="../media/image1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8.png"/><Relationship Id="rId4" Type="http://schemas.openxmlformats.org/officeDocument/2006/relationships/hyperlink" Target="https://medium.com/@allypetitt/practical-demonstration-dns-spoofing-home-lab-f7294443fb23" TargetMode="External"/><Relationship Id="rId5" Type="http://schemas.openxmlformats.org/officeDocument/2006/relationships/hyperlink" Target="https://www.catchpoint.com/dns-monitoring/dns-attack" TargetMode="External"/><Relationship Id="rId6" Type="http://schemas.openxmlformats.org/officeDocument/2006/relationships/hyperlink" Target="https://www.akamai.com/blog/security-research/weaponizing-dhcp-dns-spoofing-hands-on-guide" TargetMode="External"/><Relationship Id="rId7" Type="http://schemas.openxmlformats.org/officeDocument/2006/relationships/hyperlink" Target="https://cuvirtcyberpt-lwd8328.slack.com/files/U080VCFL59S/F08RDDNL65V/img_7496.png" TargetMode="External"/><Relationship Id="rId8" Type="http://schemas.openxmlformats.org/officeDocument/2006/relationships/hyperlink" Target="https://cuvirtcyberpt-lwd8328.slack.com/archives/C08MH5MBNF8/p1746953245764529"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79883" y="-54335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highlight>
                  <a:srgbClr val="F1C232"/>
                </a:highlight>
              </a:rPr>
              <a:t>DNS Spoofing</a:t>
            </a:r>
            <a:endParaRPr>
              <a:highlight>
                <a:srgbClr val="F1C232"/>
              </a:highlight>
            </a:endParaRPr>
          </a:p>
        </p:txBody>
      </p:sp>
      <p:sp>
        <p:nvSpPr>
          <p:cNvPr id="55" name="Google Shape;55;p13"/>
          <p:cNvSpPr txBox="1"/>
          <p:nvPr>
            <p:ph idx="1" type="subTitle"/>
          </p:nvPr>
        </p:nvSpPr>
        <p:spPr>
          <a:xfrm>
            <a:off x="263400" y="3727600"/>
            <a:ext cx="8520600" cy="7926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SzPts val="440"/>
              <a:buNone/>
            </a:pPr>
            <a:r>
              <a:rPr lang="en" sz="2020">
                <a:solidFill>
                  <a:srgbClr val="000000"/>
                </a:solidFill>
                <a:highlight>
                  <a:srgbClr val="F1C232"/>
                </a:highlight>
              </a:rPr>
              <a:t>Presented by: </a:t>
            </a:r>
            <a:endParaRPr sz="2020">
              <a:solidFill>
                <a:srgbClr val="000000"/>
              </a:solidFill>
              <a:highlight>
                <a:srgbClr val="F1C232"/>
              </a:highlight>
            </a:endParaRPr>
          </a:p>
          <a:p>
            <a:pPr indent="0" lvl="0" marL="0" rtl="0" algn="ctr">
              <a:lnSpc>
                <a:spcPct val="80000"/>
              </a:lnSpc>
              <a:spcBef>
                <a:spcPts val="0"/>
              </a:spcBef>
              <a:spcAft>
                <a:spcPts val="0"/>
              </a:spcAft>
              <a:buSzPts val="440"/>
              <a:buNone/>
            </a:pPr>
            <a:r>
              <a:rPr lang="en" sz="2020">
                <a:solidFill>
                  <a:srgbClr val="000000"/>
                </a:solidFill>
                <a:highlight>
                  <a:srgbClr val="F1C232"/>
                </a:highlight>
              </a:rPr>
              <a:t>Kojo Quarm, </a:t>
            </a:r>
            <a:endParaRPr sz="2020">
              <a:solidFill>
                <a:srgbClr val="000000"/>
              </a:solidFill>
              <a:highlight>
                <a:srgbClr val="F1C232"/>
              </a:highlight>
            </a:endParaRPr>
          </a:p>
          <a:p>
            <a:pPr indent="0" lvl="0" marL="0" rtl="0" algn="ctr">
              <a:lnSpc>
                <a:spcPct val="80000"/>
              </a:lnSpc>
              <a:spcBef>
                <a:spcPts val="0"/>
              </a:spcBef>
              <a:spcAft>
                <a:spcPts val="0"/>
              </a:spcAft>
              <a:buSzPts val="440"/>
              <a:buNone/>
            </a:pPr>
            <a:r>
              <a:rPr lang="en" sz="2020">
                <a:solidFill>
                  <a:srgbClr val="000000"/>
                </a:solidFill>
                <a:highlight>
                  <a:srgbClr val="F1C232"/>
                </a:highlight>
              </a:rPr>
              <a:t>Tiffany Cooke &amp;</a:t>
            </a:r>
            <a:endParaRPr sz="2020">
              <a:solidFill>
                <a:srgbClr val="000000"/>
              </a:solidFill>
              <a:highlight>
                <a:srgbClr val="F1C232"/>
              </a:highlight>
            </a:endParaRPr>
          </a:p>
          <a:p>
            <a:pPr indent="0" lvl="0" marL="0" rtl="0" algn="ctr">
              <a:lnSpc>
                <a:spcPct val="80000"/>
              </a:lnSpc>
              <a:spcBef>
                <a:spcPts val="0"/>
              </a:spcBef>
              <a:spcAft>
                <a:spcPts val="0"/>
              </a:spcAft>
              <a:buSzPts val="440"/>
              <a:buNone/>
            </a:pPr>
            <a:r>
              <a:rPr lang="en" sz="2020">
                <a:solidFill>
                  <a:srgbClr val="000000"/>
                </a:solidFill>
                <a:highlight>
                  <a:srgbClr val="F1C232"/>
                </a:highlight>
              </a:rPr>
              <a:t>Martin Lawrence</a:t>
            </a:r>
            <a:endParaRPr sz="2020">
              <a:solidFill>
                <a:srgbClr val="000000"/>
              </a:solidFill>
              <a:highlight>
                <a:srgbClr val="F1C232"/>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Google Shape;60;p14"/>
          <p:cNvSpPr txBox="1"/>
          <p:nvPr>
            <p:ph type="ctrTitle"/>
          </p:nvPr>
        </p:nvSpPr>
        <p:spPr>
          <a:xfrm>
            <a:off x="210300" y="155375"/>
            <a:ext cx="8520600" cy="699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highlight>
                  <a:srgbClr val="F1C232"/>
                </a:highlight>
              </a:rPr>
              <a:t>What is DNS?</a:t>
            </a:r>
            <a:endParaRPr>
              <a:highlight>
                <a:srgbClr val="F1C232"/>
              </a:highlight>
            </a:endParaRPr>
          </a:p>
        </p:txBody>
      </p:sp>
      <p:sp>
        <p:nvSpPr>
          <p:cNvPr id="61" name="Google Shape;61;p14"/>
          <p:cNvSpPr txBox="1"/>
          <p:nvPr>
            <p:ph idx="1" type="subTitle"/>
          </p:nvPr>
        </p:nvSpPr>
        <p:spPr>
          <a:xfrm>
            <a:off x="311700" y="2934250"/>
            <a:ext cx="8520600" cy="1689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chemeClr val="dk1"/>
                </a:solidFill>
                <a:highlight>
                  <a:srgbClr val="F1C232"/>
                </a:highlight>
              </a:rPr>
              <a:t>DNS stands for Domain Name System. It is the phonebook of the internet and is the service that translates website names into IP addresses</a:t>
            </a:r>
            <a:endParaRPr>
              <a:solidFill>
                <a:schemeClr val="dk1"/>
              </a:solidFill>
              <a:highlight>
                <a:srgbClr val="F1C232"/>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
                                        </p:tgtEl>
                                        <p:attrNameLst>
                                          <p:attrName>style.visibility</p:attrName>
                                        </p:attrNameLst>
                                      </p:cBhvr>
                                      <p:to>
                                        <p:strVal val="visible"/>
                                      </p:to>
                                    </p:set>
                                    <p:animEffect filter="fade" transition="in">
                                      <p:cBhvr>
                                        <p:cTn dur="1000"/>
                                        <p:tgtEl>
                                          <p:spTgt spid="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5" name="Shape 65"/>
        <p:cNvGrpSpPr/>
        <p:nvPr/>
      </p:nvGrpSpPr>
      <p:grpSpPr>
        <a:xfrm>
          <a:off x="0" y="0"/>
          <a:ext cx="0" cy="0"/>
          <a:chOff x="0" y="0"/>
          <a:chExt cx="0" cy="0"/>
        </a:xfrm>
      </p:grpSpPr>
      <p:sp>
        <p:nvSpPr>
          <p:cNvPr id="66" name="Google Shape;66;p15"/>
          <p:cNvSpPr txBox="1"/>
          <p:nvPr>
            <p:ph type="title"/>
          </p:nvPr>
        </p:nvSpPr>
        <p:spPr>
          <a:xfrm>
            <a:off x="1852100" y="3148125"/>
            <a:ext cx="5143500" cy="99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 </a:t>
            </a:r>
            <a:r>
              <a:rPr b="1" lang="en">
                <a:highlight>
                  <a:srgbClr val="F1C232"/>
                </a:highlight>
              </a:rPr>
              <a:t>Why DNS Spoofing?</a:t>
            </a:r>
            <a:endParaRPr b="1">
              <a:highlight>
                <a:srgbClr val="F1C232"/>
              </a:highlight>
            </a:endParaRPr>
          </a:p>
        </p:txBody>
      </p:sp>
      <p:sp>
        <p:nvSpPr>
          <p:cNvPr id="67" name="Google Shape;67;p15"/>
          <p:cNvSpPr txBox="1"/>
          <p:nvPr>
            <p:ph idx="1" type="body"/>
          </p:nvPr>
        </p:nvSpPr>
        <p:spPr>
          <a:xfrm>
            <a:off x="31275" y="3789725"/>
            <a:ext cx="8987400" cy="1252800"/>
          </a:xfrm>
          <a:prstGeom prst="rect">
            <a:avLst/>
          </a:prstGeom>
        </p:spPr>
        <p:txBody>
          <a:bodyPr anchorCtr="0" anchor="t" bIns="91425" lIns="91425" spcFirstLastPara="1" rIns="91425" wrap="square" tIns="91425">
            <a:normAutofit lnSpcReduction="20000"/>
          </a:bodyPr>
          <a:lstStyle/>
          <a:p>
            <a:pPr indent="0" lvl="0" marL="457200" rtl="0" algn="l">
              <a:spcBef>
                <a:spcPts val="0"/>
              </a:spcBef>
              <a:spcAft>
                <a:spcPts val="1200"/>
              </a:spcAft>
              <a:buNone/>
            </a:pPr>
            <a:r>
              <a:rPr lang="en">
                <a:solidFill>
                  <a:schemeClr val="dk1"/>
                </a:solidFill>
                <a:highlight>
                  <a:srgbClr val="F1C232"/>
                </a:highlight>
              </a:rPr>
              <a:t>As technology progresses and the world becomes more integrated with said technology, things that were previously not vulnerable to attack methods like DNS spoofing, suddenly will be vulnerable and so we must be prepared to meet this threat. </a:t>
            </a:r>
            <a:endParaRPr>
              <a:solidFill>
                <a:schemeClr val="dk1"/>
              </a:solidFill>
              <a:highlight>
                <a:srgbClr val="F1C232"/>
              </a:highlight>
            </a:endParaRPr>
          </a:p>
        </p:txBody>
      </p:sp>
      <p:sp>
        <p:nvSpPr>
          <p:cNvPr id="68" name="Google Shape;68;p15"/>
          <p:cNvSpPr txBox="1"/>
          <p:nvPr/>
        </p:nvSpPr>
        <p:spPr>
          <a:xfrm>
            <a:off x="2450900" y="293000"/>
            <a:ext cx="5783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69" name="Google Shape;69;p15"/>
          <p:cNvSpPr txBox="1"/>
          <p:nvPr/>
        </p:nvSpPr>
        <p:spPr>
          <a:xfrm>
            <a:off x="1370875" y="100525"/>
            <a:ext cx="57402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b="1" lang="en" sz="2800">
                <a:solidFill>
                  <a:schemeClr val="dk1"/>
                </a:solidFill>
                <a:highlight>
                  <a:srgbClr val="F1C232"/>
                </a:highlight>
              </a:rPr>
              <a:t> </a:t>
            </a:r>
            <a:r>
              <a:rPr b="1" lang="en" sz="2800">
                <a:solidFill>
                  <a:schemeClr val="dk1"/>
                </a:solidFill>
                <a:highlight>
                  <a:srgbClr val="F1C232"/>
                </a:highlight>
              </a:rPr>
              <a:t>Spoofing</a:t>
            </a:r>
            <a:endParaRPr b="1" sz="2800">
              <a:solidFill>
                <a:schemeClr val="dk1"/>
              </a:solidFill>
              <a:highlight>
                <a:srgbClr val="F1C232"/>
              </a:highlight>
            </a:endParaRPr>
          </a:p>
        </p:txBody>
      </p:sp>
      <p:sp>
        <p:nvSpPr>
          <p:cNvPr id="70" name="Google Shape;70;p15"/>
          <p:cNvSpPr txBox="1"/>
          <p:nvPr/>
        </p:nvSpPr>
        <p:spPr>
          <a:xfrm>
            <a:off x="344325" y="816975"/>
            <a:ext cx="8586900" cy="18393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rPr lang="en" sz="1800">
                <a:solidFill>
                  <a:schemeClr val="dk1"/>
                </a:solidFill>
                <a:highlight>
                  <a:srgbClr val="F1C232"/>
                </a:highlight>
              </a:rPr>
              <a:t>Spoofing is a technique that attackers use to gain user information by creating a false copy of a legitimate website and redirecting said traffic from the real website to their own.</a:t>
            </a:r>
            <a:endParaRPr sz="1800">
              <a:solidFill>
                <a:schemeClr val="dk1"/>
              </a:solidFill>
              <a:highlight>
                <a:srgbClr val="F1C232"/>
              </a:highlight>
            </a:endParaRPr>
          </a:p>
          <a:p>
            <a:pPr indent="0" lvl="0" marL="0" rtl="0" algn="l">
              <a:lnSpc>
                <a:spcPct val="115000"/>
              </a:lnSpc>
              <a:spcBef>
                <a:spcPts val="1200"/>
              </a:spcBef>
              <a:spcAft>
                <a:spcPts val="0"/>
              </a:spcAft>
              <a:buClr>
                <a:schemeClr val="dk1"/>
              </a:buClr>
              <a:buSzPts val="1100"/>
              <a:buFont typeface="Arial"/>
              <a:buNone/>
            </a:pPr>
            <a:r>
              <a:t/>
            </a:r>
            <a:endParaRPr sz="1800">
              <a:solidFill>
                <a:schemeClr val="dk1"/>
              </a:solidFill>
            </a:endParaRPr>
          </a:p>
          <a:p>
            <a:pPr indent="0" lvl="0" marL="0" rtl="0" algn="l">
              <a:spcBef>
                <a:spcPts val="1200"/>
              </a:spcBef>
              <a:spcAft>
                <a:spcPts val="0"/>
              </a:spcAft>
              <a:buNone/>
            </a:pPr>
            <a:r>
              <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
                                        </p:tgtEl>
                                        <p:attrNameLst>
                                          <p:attrName>style.visibility</p:attrName>
                                        </p:attrNameLst>
                                      </p:cBhvr>
                                      <p:to>
                                        <p:strVal val="visible"/>
                                      </p:to>
                                    </p:set>
                                    <p:animEffect filter="fade" transition="in">
                                      <p:cBhvr>
                                        <p:cTn dur="1000"/>
                                        <p:tgtEl>
                                          <p:spTgt spid="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70"/>
                                        </p:tgtEl>
                                        <p:attrNameLst>
                                          <p:attrName>style.visibility</p:attrName>
                                        </p:attrNameLst>
                                      </p:cBhvr>
                                      <p:to>
                                        <p:strVal val="visible"/>
                                      </p:to>
                                    </p:set>
                                    <p:anim calcmode="lin" valueType="num">
                                      <p:cBhvr additive="base">
                                        <p:cTn dur="1000"/>
                                        <p:tgtEl>
                                          <p:spTgt spid="7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66">
                                            <p:txEl>
                                              <p:pRg end="0" st="0"/>
                                            </p:txEl>
                                          </p:spTgt>
                                        </p:tgtEl>
                                        <p:attrNameLst>
                                          <p:attrName>style.visibility</p:attrName>
                                        </p:attrNameLst>
                                      </p:cBhvr>
                                      <p:to>
                                        <p:strVal val="visible"/>
                                      </p:to>
                                    </p:set>
                                    <p:anim calcmode="lin" valueType="num">
                                      <p:cBhvr additive="base">
                                        <p:cTn dur="1900"/>
                                        <p:tgtEl>
                                          <p:spTgt spid="6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67"/>
                                        </p:tgtEl>
                                        <p:attrNameLst>
                                          <p:attrName>style.visibility</p:attrName>
                                        </p:attrNameLst>
                                      </p:cBhvr>
                                      <p:to>
                                        <p:strVal val="visible"/>
                                      </p:to>
                                    </p:set>
                                    <p:anim calcmode="lin" valueType="num">
                                      <p:cBhvr additive="base">
                                        <p:cTn dur="2600"/>
                                        <p:tgtEl>
                                          <p:spTgt spid="6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4" name="Shape 74"/>
        <p:cNvGrpSpPr/>
        <p:nvPr/>
      </p:nvGrpSpPr>
      <p:grpSpPr>
        <a:xfrm>
          <a:off x="0" y="0"/>
          <a:ext cx="0" cy="0"/>
          <a:chOff x="0" y="0"/>
          <a:chExt cx="0" cy="0"/>
        </a:xfrm>
      </p:grpSpPr>
      <p:sp>
        <p:nvSpPr>
          <p:cNvPr id="75" name="Google Shape;75;p16"/>
          <p:cNvSpPr txBox="1"/>
          <p:nvPr>
            <p:ph type="title"/>
          </p:nvPr>
        </p:nvSpPr>
        <p:spPr>
          <a:xfrm>
            <a:off x="3919375" y="0"/>
            <a:ext cx="1571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highlight>
                  <a:srgbClr val="F1C232"/>
                </a:highlight>
              </a:rPr>
              <a:t>          </a:t>
            </a:r>
            <a:r>
              <a:rPr lang="en"/>
              <a:t>                                </a:t>
            </a:r>
            <a:r>
              <a:rPr lang="en">
                <a:highlight>
                  <a:srgbClr val="F1C232"/>
                </a:highlight>
              </a:rPr>
              <a:t>Tools</a:t>
            </a:r>
            <a:endParaRPr>
              <a:highlight>
                <a:srgbClr val="F1C232"/>
              </a:highlight>
            </a:endParaRPr>
          </a:p>
        </p:txBody>
      </p:sp>
      <p:sp>
        <p:nvSpPr>
          <p:cNvPr id="76" name="Google Shape;76;p16"/>
          <p:cNvSpPr txBox="1"/>
          <p:nvPr>
            <p:ph idx="1" type="body"/>
          </p:nvPr>
        </p:nvSpPr>
        <p:spPr>
          <a:xfrm>
            <a:off x="-2049975" y="13408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77" name="Google Shape;77;p16" title="kalilin.jpg"/>
          <p:cNvPicPr preferRelativeResize="0"/>
          <p:nvPr/>
        </p:nvPicPr>
        <p:blipFill>
          <a:blip r:embed="rId4">
            <a:alphaModFix/>
          </a:blip>
          <a:stretch>
            <a:fillRect/>
          </a:stretch>
        </p:blipFill>
        <p:spPr>
          <a:xfrm>
            <a:off x="357375" y="342925"/>
            <a:ext cx="2211951" cy="1581675"/>
          </a:xfrm>
          <a:prstGeom prst="rect">
            <a:avLst/>
          </a:prstGeom>
          <a:noFill/>
          <a:ln>
            <a:noFill/>
          </a:ln>
        </p:spPr>
      </p:pic>
      <p:sp>
        <p:nvSpPr>
          <p:cNvPr id="78" name="Google Shape;78;p16"/>
          <p:cNvSpPr txBox="1"/>
          <p:nvPr/>
        </p:nvSpPr>
        <p:spPr>
          <a:xfrm>
            <a:off x="222150" y="2052575"/>
            <a:ext cx="2211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       </a:t>
            </a:r>
            <a:r>
              <a:rPr lang="en" sz="1800">
                <a:solidFill>
                  <a:schemeClr val="dk1"/>
                </a:solidFill>
                <a:highlight>
                  <a:srgbClr val="F1C232"/>
                </a:highlight>
              </a:rPr>
              <a:t>Kali Linux</a:t>
            </a:r>
            <a:endParaRPr sz="1800">
              <a:solidFill>
                <a:schemeClr val="dk1"/>
              </a:solidFill>
              <a:highlight>
                <a:srgbClr val="F1C232"/>
              </a:highlight>
            </a:endParaRPr>
          </a:p>
        </p:txBody>
      </p:sp>
      <p:pic>
        <p:nvPicPr>
          <p:cNvPr id="79" name="Google Shape;79;p16" title="ubuntu.jpg"/>
          <p:cNvPicPr preferRelativeResize="0"/>
          <p:nvPr/>
        </p:nvPicPr>
        <p:blipFill>
          <a:blip r:embed="rId5">
            <a:alphaModFix/>
          </a:blip>
          <a:stretch>
            <a:fillRect/>
          </a:stretch>
        </p:blipFill>
        <p:spPr>
          <a:xfrm>
            <a:off x="6950825" y="251850"/>
            <a:ext cx="1607550" cy="1607550"/>
          </a:xfrm>
          <a:prstGeom prst="rect">
            <a:avLst/>
          </a:prstGeom>
          <a:noFill/>
          <a:ln>
            <a:noFill/>
          </a:ln>
        </p:spPr>
      </p:pic>
      <p:sp>
        <p:nvSpPr>
          <p:cNvPr id="80" name="Google Shape;80;p16"/>
          <p:cNvSpPr txBox="1"/>
          <p:nvPr/>
        </p:nvSpPr>
        <p:spPr>
          <a:xfrm>
            <a:off x="6983575" y="2052575"/>
            <a:ext cx="1685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      </a:t>
            </a:r>
            <a:r>
              <a:rPr lang="en" sz="1800">
                <a:solidFill>
                  <a:schemeClr val="dk1"/>
                </a:solidFill>
                <a:highlight>
                  <a:srgbClr val="F1C232"/>
                </a:highlight>
              </a:rPr>
              <a:t>Ubuntu</a:t>
            </a:r>
            <a:endParaRPr sz="1800">
              <a:solidFill>
                <a:schemeClr val="dk1"/>
              </a:solidFill>
              <a:highlight>
                <a:srgbClr val="F1C232"/>
              </a:highlight>
            </a:endParaRPr>
          </a:p>
        </p:txBody>
      </p:sp>
      <p:pic>
        <p:nvPicPr>
          <p:cNvPr id="81" name="Google Shape;81;p16" title="ettercap.jpg"/>
          <p:cNvPicPr preferRelativeResize="0"/>
          <p:nvPr/>
        </p:nvPicPr>
        <p:blipFill>
          <a:blip r:embed="rId6">
            <a:alphaModFix/>
          </a:blip>
          <a:stretch>
            <a:fillRect/>
          </a:stretch>
        </p:blipFill>
        <p:spPr>
          <a:xfrm>
            <a:off x="386350" y="2855575"/>
            <a:ext cx="2395475" cy="1527875"/>
          </a:xfrm>
          <a:prstGeom prst="rect">
            <a:avLst/>
          </a:prstGeom>
          <a:noFill/>
          <a:ln>
            <a:noFill/>
          </a:ln>
        </p:spPr>
      </p:pic>
      <p:pic>
        <p:nvPicPr>
          <p:cNvPr id="82" name="Google Shape;82;p16" title="apache2.jpg"/>
          <p:cNvPicPr preferRelativeResize="0"/>
          <p:nvPr/>
        </p:nvPicPr>
        <p:blipFill>
          <a:blip r:embed="rId7">
            <a:alphaModFix/>
          </a:blip>
          <a:stretch>
            <a:fillRect/>
          </a:stretch>
        </p:blipFill>
        <p:spPr>
          <a:xfrm>
            <a:off x="6791575" y="3240625"/>
            <a:ext cx="2175675" cy="1220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1000" fill="hold"/>
                                        <p:tgtEl>
                                          <p:spTgt spid="77"/>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1000" fill="hold"/>
                                        <p:tgtEl>
                                          <p:spTgt spid="79"/>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1"/>
                                        </p:tgtEl>
                                        <p:attrNameLst>
                                          <p:attrName>style.visibility</p:attrName>
                                        </p:attrNameLst>
                                      </p:cBhvr>
                                      <p:to>
                                        <p:strVal val="visible"/>
                                      </p:to>
                                    </p:set>
                                    <p:anim calcmode="lin" valueType="num">
                                      <p:cBhvr additive="base">
                                        <p:cTn dur="1000"/>
                                        <p:tgtEl>
                                          <p:spTgt spid="81"/>
                                        </p:tgtEl>
                                        <p:attrNameLst>
                                          <p:attrName>ppt_w</p:attrName>
                                        </p:attrNameLst>
                                      </p:cBhvr>
                                      <p:tavLst>
                                        <p:tav fmla="" tm="0">
                                          <p:val>
                                            <p:strVal val="0"/>
                                          </p:val>
                                        </p:tav>
                                        <p:tav fmla="" tm="100000">
                                          <p:val>
                                            <p:strVal val="#ppt_w"/>
                                          </p:val>
                                        </p:tav>
                                      </p:tavLst>
                                    </p:anim>
                                    <p:anim calcmode="lin" valueType="num">
                                      <p:cBhvr additive="base">
                                        <p:cTn dur="1000"/>
                                        <p:tgtEl>
                                          <p:spTgt spid="8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2"/>
                                        </p:tgtEl>
                                        <p:attrNameLst>
                                          <p:attrName>style.visibility</p:attrName>
                                        </p:attrNameLst>
                                      </p:cBhvr>
                                      <p:to>
                                        <p:strVal val="visible"/>
                                      </p:to>
                                    </p:set>
                                    <p:anim calcmode="lin" valueType="num">
                                      <p:cBhvr additive="base">
                                        <p:cTn dur="1000"/>
                                        <p:tgtEl>
                                          <p:spTgt spid="82"/>
                                        </p:tgtEl>
                                        <p:attrNameLst>
                                          <p:attrName>ppt_w</p:attrName>
                                        </p:attrNameLst>
                                      </p:cBhvr>
                                      <p:tavLst>
                                        <p:tav fmla="" tm="0">
                                          <p:val>
                                            <p:strVal val="0"/>
                                          </p:val>
                                        </p:tav>
                                        <p:tav fmla="" tm="100000">
                                          <p:val>
                                            <p:strVal val="#ppt_w"/>
                                          </p:val>
                                        </p:tav>
                                      </p:tavLst>
                                    </p:anim>
                                    <p:anim calcmode="lin" valueType="num">
                                      <p:cBhvr additive="base">
                                        <p:cTn dur="1000"/>
                                        <p:tgtEl>
                                          <p:spTgt spid="8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6" name="Shape 86"/>
        <p:cNvGrpSpPr/>
        <p:nvPr/>
      </p:nvGrpSpPr>
      <p:grpSpPr>
        <a:xfrm>
          <a:off x="0" y="0"/>
          <a:ext cx="0" cy="0"/>
          <a:chOff x="0" y="0"/>
          <a:chExt cx="0" cy="0"/>
        </a:xfrm>
      </p:grpSpPr>
      <p:sp>
        <p:nvSpPr>
          <p:cNvPr id="87" name="Google Shape;87;p17"/>
          <p:cNvSpPr txBox="1"/>
          <p:nvPr>
            <p:ph idx="1" type="body"/>
          </p:nvPr>
        </p:nvSpPr>
        <p:spPr>
          <a:xfrm>
            <a:off x="1306525" y="3287000"/>
            <a:ext cx="6223800" cy="12246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sz="2600">
              <a:solidFill>
                <a:schemeClr val="dk1"/>
              </a:solidFill>
              <a:highlight>
                <a:srgbClr val="F1C232"/>
              </a:highlight>
            </a:endParaRPr>
          </a:p>
          <a:p>
            <a:pPr indent="0" lvl="0" marL="457200" rtl="0" algn="ctr">
              <a:spcBef>
                <a:spcPts val="1200"/>
              </a:spcBef>
              <a:spcAft>
                <a:spcPts val="0"/>
              </a:spcAft>
              <a:buNone/>
            </a:pPr>
            <a:r>
              <a:rPr lang="en" sz="2600">
                <a:solidFill>
                  <a:schemeClr val="dk1"/>
                </a:solidFill>
                <a:highlight>
                  <a:srgbClr val="F1C232"/>
                </a:highlight>
              </a:rPr>
              <a:t>5.Victim visit spoofed website</a:t>
            </a:r>
            <a:endParaRPr sz="2600">
              <a:solidFill>
                <a:schemeClr val="dk1"/>
              </a:solidFill>
              <a:highlight>
                <a:srgbClr val="F1C232"/>
              </a:highlight>
            </a:endParaRPr>
          </a:p>
          <a:p>
            <a:pPr indent="0" lvl="0" marL="0" rtl="0" algn="l">
              <a:spcBef>
                <a:spcPts val="1200"/>
              </a:spcBef>
              <a:spcAft>
                <a:spcPts val="0"/>
              </a:spcAft>
              <a:buNone/>
            </a:pPr>
            <a:r>
              <a:t/>
            </a:r>
            <a:endParaRPr sz="2600">
              <a:solidFill>
                <a:schemeClr val="dk1"/>
              </a:solidFill>
              <a:highlight>
                <a:schemeClr val="accent6"/>
              </a:highlight>
            </a:endParaRPr>
          </a:p>
          <a:p>
            <a:pPr indent="0" lvl="0" marL="0" rtl="0" algn="l">
              <a:spcBef>
                <a:spcPts val="1200"/>
              </a:spcBef>
              <a:spcAft>
                <a:spcPts val="0"/>
              </a:spcAft>
              <a:buNone/>
            </a:pPr>
            <a:r>
              <a:t/>
            </a:r>
            <a:endParaRPr sz="2600"/>
          </a:p>
          <a:p>
            <a:pPr indent="0" lvl="0" marL="0" rtl="0" algn="l">
              <a:spcBef>
                <a:spcPts val="1200"/>
              </a:spcBef>
              <a:spcAft>
                <a:spcPts val="1200"/>
              </a:spcAft>
              <a:buNone/>
            </a:pPr>
            <a:r>
              <a:t/>
            </a:r>
            <a:endParaRPr sz="2600"/>
          </a:p>
        </p:txBody>
      </p:sp>
      <p:sp>
        <p:nvSpPr>
          <p:cNvPr id="88" name="Google Shape;88;p17"/>
          <p:cNvSpPr txBox="1"/>
          <p:nvPr/>
        </p:nvSpPr>
        <p:spPr>
          <a:xfrm>
            <a:off x="2707525" y="196750"/>
            <a:ext cx="4074300" cy="449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sz="1800">
                <a:solidFill>
                  <a:schemeClr val="dk1"/>
                </a:solidFill>
                <a:highlight>
                  <a:srgbClr val="F1C232"/>
                </a:highlight>
              </a:rPr>
              <a:t>STEPS TO DEMONSTRATION</a:t>
            </a:r>
            <a:endParaRPr sz="1800">
              <a:solidFill>
                <a:schemeClr val="dk1"/>
              </a:solidFill>
              <a:highlight>
                <a:srgbClr val="F1C232"/>
              </a:highlight>
            </a:endParaRPr>
          </a:p>
          <a:p>
            <a:pPr indent="0" lvl="0" marL="0" rtl="0" algn="l">
              <a:spcBef>
                <a:spcPts val="1200"/>
              </a:spcBef>
              <a:spcAft>
                <a:spcPts val="0"/>
              </a:spcAft>
              <a:buNone/>
            </a:pPr>
            <a:r>
              <a:t/>
            </a:r>
            <a:endParaRPr sz="1800">
              <a:solidFill>
                <a:schemeClr val="dk2"/>
              </a:solidFill>
            </a:endParaRPr>
          </a:p>
        </p:txBody>
      </p:sp>
      <p:sp>
        <p:nvSpPr>
          <p:cNvPr id="89" name="Google Shape;89;p17"/>
          <p:cNvSpPr txBox="1"/>
          <p:nvPr/>
        </p:nvSpPr>
        <p:spPr>
          <a:xfrm>
            <a:off x="2417250" y="1570725"/>
            <a:ext cx="4309500" cy="524100"/>
          </a:xfrm>
          <a:prstGeom prst="rect">
            <a:avLst/>
          </a:prstGeom>
          <a:noFill/>
          <a:ln>
            <a:noFill/>
          </a:ln>
        </p:spPr>
        <p:txBody>
          <a:bodyPr anchorCtr="0" anchor="t" bIns="91425" lIns="91425" spcFirstLastPara="1" rIns="91425" wrap="square" tIns="91425">
            <a:noAutofit/>
          </a:bodyPr>
          <a:lstStyle/>
          <a:p>
            <a:pPr indent="-393700" lvl="0" marL="457200" rtl="0" algn="ctr">
              <a:lnSpc>
                <a:spcPct val="115000"/>
              </a:lnSpc>
              <a:spcBef>
                <a:spcPts val="0"/>
              </a:spcBef>
              <a:spcAft>
                <a:spcPts val="0"/>
              </a:spcAft>
              <a:buClr>
                <a:schemeClr val="dk1"/>
              </a:buClr>
              <a:buSzPts val="2600"/>
              <a:buAutoNum type="arabicPeriod"/>
            </a:pPr>
            <a:r>
              <a:rPr lang="en" sz="2600">
                <a:solidFill>
                  <a:schemeClr val="dk1"/>
                </a:solidFill>
                <a:highlight>
                  <a:srgbClr val="F1C232"/>
                </a:highlight>
              </a:rPr>
              <a:t>Enable IP Forwarding</a:t>
            </a:r>
            <a:endParaRPr sz="1800">
              <a:solidFill>
                <a:schemeClr val="dk2"/>
              </a:solidFill>
              <a:highlight>
                <a:srgbClr val="F1C232"/>
              </a:highlight>
            </a:endParaRPr>
          </a:p>
        </p:txBody>
      </p:sp>
      <p:sp>
        <p:nvSpPr>
          <p:cNvPr id="90" name="Google Shape;90;p17"/>
          <p:cNvSpPr txBox="1"/>
          <p:nvPr/>
        </p:nvSpPr>
        <p:spPr>
          <a:xfrm>
            <a:off x="1959025" y="2094825"/>
            <a:ext cx="5571300" cy="524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2600">
                <a:solidFill>
                  <a:schemeClr val="dk1"/>
                </a:solidFill>
                <a:highlight>
                  <a:srgbClr val="F1C232"/>
                </a:highlight>
              </a:rPr>
              <a:t>2. </a:t>
            </a:r>
            <a:r>
              <a:rPr lang="en" sz="2600">
                <a:solidFill>
                  <a:schemeClr val="dk1"/>
                </a:solidFill>
                <a:highlight>
                  <a:srgbClr val="F1C232"/>
                </a:highlight>
              </a:rPr>
              <a:t>Edit/Configure Ettercap DNS file</a:t>
            </a:r>
            <a:endParaRPr sz="2600">
              <a:solidFill>
                <a:schemeClr val="dk1"/>
              </a:solidFill>
              <a:highlight>
                <a:srgbClr val="F1C232"/>
              </a:highlight>
            </a:endParaRPr>
          </a:p>
        </p:txBody>
      </p:sp>
      <p:sp>
        <p:nvSpPr>
          <p:cNvPr id="91" name="Google Shape;91;p17"/>
          <p:cNvSpPr txBox="1"/>
          <p:nvPr/>
        </p:nvSpPr>
        <p:spPr>
          <a:xfrm>
            <a:off x="1214300" y="2699000"/>
            <a:ext cx="6886500" cy="588000"/>
          </a:xfrm>
          <a:prstGeom prst="rect">
            <a:avLst/>
          </a:prstGeom>
          <a:noFill/>
          <a:ln>
            <a:noFill/>
          </a:ln>
        </p:spPr>
        <p:txBody>
          <a:bodyPr anchorCtr="0" anchor="t" bIns="91425" lIns="91425" spcFirstLastPara="1" rIns="91425" wrap="square" tIns="91425">
            <a:noAutofit/>
          </a:bodyPr>
          <a:lstStyle/>
          <a:p>
            <a:pPr indent="0" lvl="0" marL="457200" rtl="0" algn="ctr">
              <a:lnSpc>
                <a:spcPct val="115000"/>
              </a:lnSpc>
              <a:spcBef>
                <a:spcPts val="0"/>
              </a:spcBef>
              <a:spcAft>
                <a:spcPts val="1200"/>
              </a:spcAft>
              <a:buNone/>
            </a:pPr>
            <a:r>
              <a:rPr lang="en" sz="2600">
                <a:solidFill>
                  <a:schemeClr val="dk1"/>
                </a:solidFill>
                <a:highlight>
                  <a:srgbClr val="F1C232"/>
                </a:highlight>
              </a:rPr>
              <a:t>3. </a:t>
            </a:r>
            <a:r>
              <a:rPr lang="en" sz="2600">
                <a:solidFill>
                  <a:schemeClr val="dk1"/>
                </a:solidFill>
                <a:highlight>
                  <a:srgbClr val="F1C232"/>
                </a:highlight>
              </a:rPr>
              <a:t>Host Fake/Malicious Webpage on Kali</a:t>
            </a:r>
            <a:endParaRPr sz="1800">
              <a:solidFill>
                <a:schemeClr val="dk2"/>
              </a:solidFill>
              <a:highlight>
                <a:srgbClr val="F1C232"/>
              </a:highlight>
            </a:endParaRPr>
          </a:p>
        </p:txBody>
      </p:sp>
      <p:sp>
        <p:nvSpPr>
          <p:cNvPr id="92" name="Google Shape;92;p17"/>
          <p:cNvSpPr txBox="1"/>
          <p:nvPr/>
        </p:nvSpPr>
        <p:spPr>
          <a:xfrm>
            <a:off x="1676850" y="2699000"/>
            <a:ext cx="5790300" cy="1199100"/>
          </a:xfrm>
          <a:prstGeom prst="rect">
            <a:avLst/>
          </a:prstGeom>
          <a:noFill/>
          <a:ln>
            <a:noFill/>
          </a:ln>
        </p:spPr>
        <p:txBody>
          <a:bodyPr anchorCtr="0" anchor="t" bIns="91425" lIns="91425" spcFirstLastPara="1" rIns="91425" wrap="square" tIns="91425">
            <a:spAutoFit/>
          </a:bodyPr>
          <a:lstStyle/>
          <a:p>
            <a:pPr indent="0" lvl="0" marL="457200" rtl="0" algn="ctr">
              <a:lnSpc>
                <a:spcPct val="115000"/>
              </a:lnSpc>
              <a:spcBef>
                <a:spcPts val="0"/>
              </a:spcBef>
              <a:spcAft>
                <a:spcPts val="0"/>
              </a:spcAft>
              <a:buClr>
                <a:schemeClr val="dk1"/>
              </a:buClr>
              <a:buSzPts val="1100"/>
              <a:buFont typeface="Arial"/>
              <a:buNone/>
            </a:pPr>
            <a:r>
              <a:t/>
            </a:r>
            <a:endParaRPr sz="2600">
              <a:solidFill>
                <a:schemeClr val="dk1"/>
              </a:solidFill>
              <a:highlight>
                <a:srgbClr val="F1C232"/>
              </a:highlight>
            </a:endParaRPr>
          </a:p>
          <a:p>
            <a:pPr indent="0" lvl="0" marL="457200" rtl="0" algn="ctr">
              <a:lnSpc>
                <a:spcPct val="115000"/>
              </a:lnSpc>
              <a:spcBef>
                <a:spcPts val="1200"/>
              </a:spcBef>
              <a:spcAft>
                <a:spcPts val="1200"/>
              </a:spcAft>
              <a:buNone/>
            </a:pPr>
            <a:r>
              <a:rPr lang="en" sz="2600">
                <a:solidFill>
                  <a:schemeClr val="dk1"/>
                </a:solidFill>
                <a:highlight>
                  <a:srgbClr val="F1C232"/>
                </a:highlight>
              </a:rPr>
              <a:t>4.Launch attack with Ettercap</a:t>
            </a:r>
            <a:endParaRPr sz="1800">
              <a:solidFill>
                <a:schemeClr val="dk2"/>
              </a:solidFill>
              <a:highlight>
                <a:srgbClr val="F1C232"/>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9"/>
                                        </p:tgtEl>
                                        <p:attrNameLst>
                                          <p:attrName>style.visibility</p:attrName>
                                        </p:attrNameLst>
                                      </p:cBhvr>
                                      <p:to>
                                        <p:strVal val="visible"/>
                                      </p:to>
                                    </p:set>
                                    <p:anim calcmode="lin" valueType="num">
                                      <p:cBhvr additive="base">
                                        <p:cTn dur="1000"/>
                                        <p:tgtEl>
                                          <p:spTgt spid="8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90"/>
                                        </p:tgtEl>
                                        <p:attrNameLst>
                                          <p:attrName>style.visibility</p:attrName>
                                        </p:attrNameLst>
                                      </p:cBhvr>
                                      <p:to>
                                        <p:strVal val="visible"/>
                                      </p:to>
                                    </p:set>
                                    <p:anim calcmode="lin" valueType="num">
                                      <p:cBhvr additive="base">
                                        <p:cTn dur="1000"/>
                                        <p:tgtEl>
                                          <p:spTgt spid="9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1"/>
                                        </p:tgtEl>
                                        <p:attrNameLst>
                                          <p:attrName>style.visibility</p:attrName>
                                        </p:attrNameLst>
                                      </p:cBhvr>
                                      <p:to>
                                        <p:strVal val="visible"/>
                                      </p:to>
                                    </p:set>
                                    <p:anim calcmode="lin" valueType="num">
                                      <p:cBhvr additive="base">
                                        <p:cTn dur="1000"/>
                                        <p:tgtEl>
                                          <p:spTgt spid="9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92"/>
                                        </p:tgtEl>
                                        <p:attrNameLst>
                                          <p:attrName>style.visibility</p:attrName>
                                        </p:attrNameLst>
                                      </p:cBhvr>
                                      <p:to>
                                        <p:strVal val="visible"/>
                                      </p:to>
                                    </p:set>
                                    <p:anim calcmode="lin" valueType="num">
                                      <p:cBhvr additive="base">
                                        <p:cTn dur="1000"/>
                                        <p:tgtEl>
                                          <p:spTgt spid="9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
                                        </p:tgtEl>
                                        <p:attrNameLst>
                                          <p:attrName>style.visibility</p:attrName>
                                        </p:attrNameLst>
                                      </p:cBhvr>
                                      <p:to>
                                        <p:strVal val="visible"/>
                                      </p:to>
                                    </p:set>
                                    <p:animEffect filter="fade" transition="in">
                                      <p:cBhvr>
                                        <p:cTn dur="1000"/>
                                        <p:tgtEl>
                                          <p:spTgt spid="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6" name="Shape 96"/>
        <p:cNvGrpSpPr/>
        <p:nvPr/>
      </p:nvGrpSpPr>
      <p:grpSpPr>
        <a:xfrm>
          <a:off x="0" y="0"/>
          <a:ext cx="0" cy="0"/>
          <a:chOff x="0" y="0"/>
          <a:chExt cx="0" cy="0"/>
        </a:xfrm>
      </p:grpSpPr>
      <p:graphicFrame>
        <p:nvGraphicFramePr>
          <p:cNvPr id="97" name="Google Shape;97;p18"/>
          <p:cNvGraphicFramePr/>
          <p:nvPr/>
        </p:nvGraphicFramePr>
        <p:xfrm>
          <a:off x="450725" y="794925"/>
          <a:ext cx="3000000" cy="3000000"/>
        </p:xfrm>
        <a:graphic>
          <a:graphicData uri="http://schemas.openxmlformats.org/drawingml/2006/table">
            <a:tbl>
              <a:tblPr>
                <a:noFill/>
                <a:tableStyleId>{5062CE64-0FA9-4D28-B2C3-F49FA6B3B7A5}</a:tableStyleId>
              </a:tblPr>
              <a:tblGrid>
                <a:gridCol w="4175575"/>
                <a:gridCol w="4175575"/>
              </a:tblGrid>
              <a:tr h="667600">
                <a:tc>
                  <a:txBody>
                    <a:bodyPr/>
                    <a:lstStyle/>
                    <a:p>
                      <a:pPr indent="0" lvl="0" marL="0" rtl="0" algn="l">
                        <a:spcBef>
                          <a:spcPts val="0"/>
                        </a:spcBef>
                        <a:spcAft>
                          <a:spcPts val="0"/>
                        </a:spcAft>
                        <a:buNone/>
                      </a:pPr>
                      <a:r>
                        <a:rPr lang="en">
                          <a:highlight>
                            <a:srgbClr val="F1C232"/>
                          </a:highlight>
                        </a:rPr>
                        <a:t>echo 1 | sudo tee /proc/sys/net/ipv4/ip_forward</a:t>
                      </a:r>
                      <a:endParaRPr>
                        <a:highlight>
                          <a:srgbClr val="F1C232"/>
                        </a:highlight>
                      </a:endParaRPr>
                    </a:p>
                  </a:txBody>
                  <a:tcPr marT="91425" marB="91425" marR="91425" marL="91425"/>
                </a:tc>
                <a:tc>
                  <a:txBody>
                    <a:bodyPr/>
                    <a:lstStyle/>
                    <a:p>
                      <a:pPr indent="0" lvl="0" marL="0" rtl="0" algn="l">
                        <a:spcBef>
                          <a:spcPts val="0"/>
                        </a:spcBef>
                        <a:spcAft>
                          <a:spcPts val="0"/>
                        </a:spcAft>
                        <a:buNone/>
                      </a:pPr>
                      <a:r>
                        <a:rPr lang="en">
                          <a:highlight>
                            <a:srgbClr val="F1C232"/>
                          </a:highlight>
                        </a:rPr>
                        <a:t>Enable IP forwarding on Kali</a:t>
                      </a:r>
                      <a:endParaRPr>
                        <a:highlight>
                          <a:srgbClr val="F1C232"/>
                        </a:highlight>
                      </a:endParaRPr>
                    </a:p>
                  </a:txBody>
                  <a:tcPr marT="91425" marB="91425" marR="91425" marL="91425"/>
                </a:tc>
              </a:tr>
              <a:tr h="619225">
                <a:tc>
                  <a:txBody>
                    <a:bodyPr/>
                    <a:lstStyle/>
                    <a:p>
                      <a:pPr indent="0" lvl="0" marL="0" rtl="0" algn="l">
                        <a:spcBef>
                          <a:spcPts val="0"/>
                        </a:spcBef>
                        <a:spcAft>
                          <a:spcPts val="0"/>
                        </a:spcAft>
                        <a:buNone/>
                      </a:pPr>
                      <a:r>
                        <a:rPr lang="en">
                          <a:highlight>
                            <a:srgbClr val="F1C232"/>
                          </a:highlight>
                        </a:rPr>
                        <a:t>sudo nano /etc/Ettercap/etter.dns</a:t>
                      </a:r>
                      <a:endParaRPr>
                        <a:highlight>
                          <a:srgbClr val="F1C232"/>
                        </a:highlight>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highlight>
                            <a:srgbClr val="F1C232"/>
                          </a:highlight>
                        </a:rPr>
                        <a:t>add hostname/domain to be spoofed and ip address for fake webpage</a:t>
                      </a:r>
                      <a:endParaRPr>
                        <a:highlight>
                          <a:srgbClr val="F1C232"/>
                        </a:highlight>
                      </a:endParaRPr>
                    </a:p>
                    <a:p>
                      <a:pPr indent="0" lvl="0" marL="0" rtl="0" algn="l">
                        <a:spcBef>
                          <a:spcPts val="0"/>
                        </a:spcBef>
                        <a:spcAft>
                          <a:spcPts val="0"/>
                        </a:spcAft>
                        <a:buClr>
                          <a:schemeClr val="dk1"/>
                        </a:buClr>
                        <a:buSzPts val="1100"/>
                        <a:buFont typeface="Arial"/>
                        <a:buNone/>
                      </a:pPr>
                      <a:r>
                        <a:t/>
                      </a:r>
                      <a:endParaRPr>
                        <a:highlight>
                          <a:srgbClr val="F1C232"/>
                        </a:highlight>
                      </a:endParaRPr>
                    </a:p>
                    <a:p>
                      <a:pPr indent="0" lvl="0" marL="0" rtl="0" algn="l">
                        <a:spcBef>
                          <a:spcPts val="0"/>
                        </a:spcBef>
                        <a:spcAft>
                          <a:spcPts val="0"/>
                        </a:spcAft>
                        <a:buNone/>
                      </a:pPr>
                      <a:r>
                        <a:t/>
                      </a:r>
                      <a:endParaRPr>
                        <a:highlight>
                          <a:srgbClr val="F1C232"/>
                        </a:highlight>
                      </a:endParaRPr>
                    </a:p>
                  </a:txBody>
                  <a:tcPr marT="91425" marB="91425" marR="91425" marL="91425"/>
                </a:tc>
              </a:tr>
              <a:tr h="417275">
                <a:tc>
                  <a:txBody>
                    <a:bodyPr/>
                    <a:lstStyle/>
                    <a:p>
                      <a:pPr indent="0" lvl="0" marL="0" rtl="0" algn="l">
                        <a:spcBef>
                          <a:spcPts val="0"/>
                        </a:spcBef>
                        <a:spcAft>
                          <a:spcPts val="0"/>
                        </a:spcAft>
                        <a:buNone/>
                      </a:pPr>
                      <a:r>
                        <a:rPr lang="en">
                          <a:highlight>
                            <a:srgbClr val="F1C232"/>
                          </a:highlight>
                        </a:rPr>
                        <a:t>sudo service apache2 start</a:t>
                      </a:r>
                      <a:endParaRPr>
                        <a:highlight>
                          <a:srgbClr val="F1C232"/>
                        </a:highlight>
                      </a:endParaRPr>
                    </a:p>
                  </a:txBody>
                  <a:tcPr marT="91425" marB="91425" marR="91425" marL="91425"/>
                </a:tc>
                <a:tc>
                  <a:txBody>
                    <a:bodyPr/>
                    <a:lstStyle/>
                    <a:p>
                      <a:pPr indent="0" lvl="0" marL="0" rtl="0" algn="l">
                        <a:spcBef>
                          <a:spcPts val="0"/>
                        </a:spcBef>
                        <a:spcAft>
                          <a:spcPts val="0"/>
                        </a:spcAft>
                        <a:buNone/>
                      </a:pPr>
                      <a:r>
                        <a:rPr lang="en">
                          <a:highlight>
                            <a:srgbClr val="F1C232"/>
                          </a:highlight>
                        </a:rPr>
                        <a:t>to start apache server </a:t>
                      </a:r>
                      <a:endParaRPr>
                        <a:highlight>
                          <a:srgbClr val="F1C232"/>
                        </a:highlight>
                      </a:endParaRPr>
                    </a:p>
                  </a:txBody>
                  <a:tcPr marT="91425" marB="91425" marR="91425" marL="91425"/>
                </a:tc>
              </a:tr>
              <a:tr h="417275">
                <a:tc>
                  <a:txBody>
                    <a:bodyPr/>
                    <a:lstStyle/>
                    <a:p>
                      <a:pPr indent="0" lvl="0" marL="0" rtl="0" algn="l">
                        <a:spcBef>
                          <a:spcPts val="0"/>
                        </a:spcBef>
                        <a:spcAft>
                          <a:spcPts val="0"/>
                        </a:spcAft>
                        <a:buNone/>
                      </a:pPr>
                      <a:r>
                        <a:rPr lang="en">
                          <a:highlight>
                            <a:srgbClr val="F1C232"/>
                          </a:highlight>
                        </a:rPr>
                        <a:t>sudo service apache2 status</a:t>
                      </a:r>
                      <a:endParaRPr>
                        <a:highlight>
                          <a:srgbClr val="F1C232"/>
                        </a:highlight>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highlight>
                            <a:srgbClr val="F1C232"/>
                          </a:highlight>
                        </a:rPr>
                        <a:t>to make sure apache server started su</a:t>
                      </a:r>
                      <a:r>
                        <a:rPr lang="en">
                          <a:highlight>
                            <a:srgbClr val="F1C232"/>
                          </a:highlight>
                        </a:rPr>
                        <a:t>c</a:t>
                      </a:r>
                      <a:r>
                        <a:rPr lang="en">
                          <a:highlight>
                            <a:srgbClr val="F1C232"/>
                          </a:highlight>
                        </a:rPr>
                        <a:t>cessfully</a:t>
                      </a:r>
                      <a:endParaRPr>
                        <a:highlight>
                          <a:srgbClr val="F1C232"/>
                        </a:highlight>
                      </a:endParaRPr>
                    </a:p>
                    <a:p>
                      <a:pPr indent="0" lvl="0" marL="0" rtl="0" algn="l">
                        <a:spcBef>
                          <a:spcPts val="0"/>
                        </a:spcBef>
                        <a:spcAft>
                          <a:spcPts val="0"/>
                        </a:spcAft>
                        <a:buClr>
                          <a:schemeClr val="dk1"/>
                        </a:buClr>
                        <a:buSzPts val="1100"/>
                        <a:buFont typeface="Arial"/>
                        <a:buNone/>
                      </a:pPr>
                      <a:r>
                        <a:t/>
                      </a:r>
                      <a:endParaRPr>
                        <a:highlight>
                          <a:srgbClr val="F1C232"/>
                        </a:highlight>
                      </a:endParaRPr>
                    </a:p>
                    <a:p>
                      <a:pPr indent="0" lvl="0" marL="0" rtl="0" algn="l">
                        <a:spcBef>
                          <a:spcPts val="0"/>
                        </a:spcBef>
                        <a:spcAft>
                          <a:spcPts val="0"/>
                        </a:spcAft>
                        <a:buNone/>
                      </a:pPr>
                      <a:r>
                        <a:t/>
                      </a:r>
                      <a:endParaRPr>
                        <a:highlight>
                          <a:srgbClr val="F1C232"/>
                        </a:highlight>
                      </a:endParaRPr>
                    </a:p>
                  </a:txBody>
                  <a:tcPr marT="91425" marB="91425" marR="91425" marL="91425"/>
                </a:tc>
              </a:tr>
              <a:tr h="417275">
                <a:tc>
                  <a:txBody>
                    <a:bodyPr/>
                    <a:lstStyle/>
                    <a:p>
                      <a:pPr indent="0" lvl="0" marL="0" rtl="0" algn="l">
                        <a:spcBef>
                          <a:spcPts val="0"/>
                        </a:spcBef>
                        <a:spcAft>
                          <a:spcPts val="0"/>
                        </a:spcAft>
                        <a:buNone/>
                      </a:pPr>
                      <a:r>
                        <a:rPr lang="en">
                          <a:highlight>
                            <a:srgbClr val="F1C232"/>
                          </a:highlight>
                        </a:rPr>
                        <a:t>sudo ettercapc -T -q -i eth0 -M arp:remote //victim ip// //router ip// -P dns_spoof</a:t>
                      </a:r>
                      <a:endParaRPr>
                        <a:highlight>
                          <a:srgbClr val="F1C232"/>
                        </a:highlight>
                      </a:endParaRPr>
                    </a:p>
                  </a:txBody>
                  <a:tcPr marT="91425" marB="91425" marR="91425" marL="91425"/>
                </a:tc>
                <a:tc>
                  <a:txBody>
                    <a:bodyPr/>
                    <a:lstStyle/>
                    <a:p>
                      <a:pPr indent="0" lvl="0" marL="0" rtl="0" algn="l">
                        <a:spcBef>
                          <a:spcPts val="0"/>
                        </a:spcBef>
                        <a:spcAft>
                          <a:spcPts val="0"/>
                        </a:spcAft>
                        <a:buNone/>
                      </a:pPr>
                      <a:r>
                        <a:rPr lang="en">
                          <a:highlight>
                            <a:srgbClr val="F1C232"/>
                          </a:highlight>
                        </a:rPr>
                        <a:t>Launch attack with ettercap</a:t>
                      </a:r>
                      <a:endParaRPr>
                        <a:highlight>
                          <a:srgbClr val="F1C232"/>
                        </a:highlight>
                      </a:endParaRPr>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1" name="Shape 101"/>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5" name="Shape 105"/>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9" name="Shape 109"/>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3" name="Shape 113"/>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7" name="Shape 117"/>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1" name="Shape 121"/>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5" name="Shape 125"/>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9" name="Shape 129"/>
        <p:cNvGrpSpPr/>
        <p:nvPr/>
      </p:nvGrpSpPr>
      <p:grpSpPr>
        <a:xfrm>
          <a:off x="0" y="0"/>
          <a:ext cx="0" cy="0"/>
          <a:chOff x="0" y="0"/>
          <a:chExt cx="0" cy="0"/>
        </a:xfrm>
      </p:grpSpPr>
      <p:sp>
        <p:nvSpPr>
          <p:cNvPr id="130" name="Google Shape;130;p26"/>
          <p:cNvSpPr txBox="1"/>
          <p:nvPr>
            <p:ph idx="1" type="body"/>
          </p:nvPr>
        </p:nvSpPr>
        <p:spPr>
          <a:xfrm flipH="1" rot="10800000">
            <a:off x="311700" y="4569000"/>
            <a:ext cx="8769000" cy="441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1200"/>
              </a:spcAft>
              <a:buNone/>
            </a:pPr>
            <a:r>
              <a:t/>
            </a:r>
            <a:endParaRPr/>
          </a:p>
        </p:txBody>
      </p:sp>
      <p:pic>
        <p:nvPicPr>
          <p:cNvPr id="131" name="Google Shape;131;p26" title="project vid.mov">
            <a:hlinkClick r:id="rId4"/>
          </p:cNvPr>
          <p:cNvPicPr preferRelativeResize="0"/>
          <p:nvPr/>
        </p:nvPicPr>
        <p:blipFill>
          <a:blip r:embed="rId5">
            <a:alphaModFix/>
          </a:blip>
          <a:stretch>
            <a:fillRect/>
          </a:stretch>
        </p:blipFill>
        <p:spPr>
          <a:xfrm>
            <a:off x="1787950" y="141700"/>
            <a:ext cx="5934800" cy="3904800"/>
          </a:xfrm>
          <a:prstGeom prst="rect">
            <a:avLst/>
          </a:prstGeom>
          <a:noFill/>
          <a:ln>
            <a:noFill/>
          </a:ln>
        </p:spPr>
      </p:pic>
      <p:sp>
        <p:nvSpPr>
          <p:cNvPr id="132" name="Google Shape;132;p26"/>
          <p:cNvSpPr/>
          <p:nvPr/>
        </p:nvSpPr>
        <p:spPr>
          <a:xfrm>
            <a:off x="515450" y="89825"/>
            <a:ext cx="684300" cy="887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 name="Google Shape;133;p26"/>
          <p:cNvSpPr/>
          <p:nvPr/>
        </p:nvSpPr>
        <p:spPr>
          <a:xfrm>
            <a:off x="515450" y="1639888"/>
            <a:ext cx="684300" cy="844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 name="Google Shape;134;p26"/>
          <p:cNvSpPr/>
          <p:nvPr/>
        </p:nvSpPr>
        <p:spPr>
          <a:xfrm>
            <a:off x="600675" y="3147063"/>
            <a:ext cx="684300" cy="844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6"/>
          <p:cNvSpPr/>
          <p:nvPr/>
        </p:nvSpPr>
        <p:spPr>
          <a:xfrm>
            <a:off x="724900" y="4335195"/>
            <a:ext cx="8060897" cy="622071"/>
          </a:xfrm>
          <a:prstGeom prst="rect">
            <a:avLst/>
          </a:prstGeom>
        </p:spPr>
        <p:txBody>
          <a:bodyPr>
            <a:prstTxWarp prst="textPlain"/>
          </a:bodyPr>
          <a:lstStyle/>
          <a:p>
            <a:pPr lvl="0" algn="ctr"/>
            <a:r>
              <a:rPr b="1" i="0">
                <a:ln cap="flat" cmpd="sng" w="9525">
                  <a:solidFill>
                    <a:schemeClr val="dk2"/>
                  </a:solidFill>
                  <a:prstDash val="solid"/>
                  <a:round/>
                  <a:headEnd len="sm" w="sm" type="none"/>
                  <a:tailEnd len="sm" w="sm" type="none"/>
                </a:ln>
                <a:solidFill>
                  <a:schemeClr val="lt2"/>
                </a:solidFill>
                <a:latin typeface="Times New Roman"/>
              </a:rPr>
              <a:t>STAY ON DEFENSE</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1000"/>
                                        <p:tgtEl>
                                          <p:spTgt spid="1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1000"/>
                                        <p:tgtEl>
                                          <p:spTgt spid="1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1000"/>
                                        <p:tgtEl>
                                          <p:spTgt spid="1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35"/>
                                        </p:tgtEl>
                                        <p:attrNameLst>
                                          <p:attrName>style.visibility</p:attrName>
                                        </p:attrNameLst>
                                      </p:cBhvr>
                                      <p:to>
                                        <p:strVal val="visible"/>
                                      </p:to>
                                    </p:set>
                                    <p:anim calcmode="lin" valueType="num">
                                      <p:cBhvr additive="base">
                                        <p:cTn dur="1000"/>
                                        <p:tgtEl>
                                          <p:spTgt spid="135"/>
                                        </p:tgtEl>
                                        <p:attrNameLst>
                                          <p:attrName>ppt_w</p:attrName>
                                        </p:attrNameLst>
                                      </p:cBhvr>
                                      <p:tavLst>
                                        <p:tav fmla="" tm="0">
                                          <p:val>
                                            <p:strVal val="0"/>
                                          </p:val>
                                        </p:tav>
                                        <p:tav fmla="" tm="100000">
                                          <p:val>
                                            <p:strVal val="#ppt_w"/>
                                          </p:val>
                                        </p:tav>
                                      </p:tavLst>
                                    </p:anim>
                                    <p:anim calcmode="lin" valueType="num">
                                      <p:cBhvr additive="base">
                                        <p:cTn dur="1000"/>
                                        <p:tgtEl>
                                          <p:spTgt spid="13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1000"/>
                                        <p:tgtEl>
                                          <p:spTgt spid="1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9" name="Shape 139"/>
        <p:cNvGrpSpPr/>
        <p:nvPr/>
      </p:nvGrpSpPr>
      <p:grpSpPr>
        <a:xfrm>
          <a:off x="0" y="0"/>
          <a:ext cx="0" cy="0"/>
          <a:chOff x="0" y="0"/>
          <a:chExt cx="0" cy="0"/>
        </a:xfrm>
      </p:grpSpPr>
      <p:sp>
        <p:nvSpPr>
          <p:cNvPr id="140" name="Google Shape;140;p27"/>
          <p:cNvSpPr txBox="1"/>
          <p:nvPr>
            <p:ph idx="1" type="body"/>
          </p:nvPr>
        </p:nvSpPr>
        <p:spPr>
          <a:xfrm>
            <a:off x="606900" y="77200"/>
            <a:ext cx="7930200" cy="455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n"/>
              <a:t>                                                   </a:t>
            </a:r>
            <a:r>
              <a:rPr lang="en">
                <a:solidFill>
                  <a:schemeClr val="dk1"/>
                </a:solidFill>
                <a:highlight>
                  <a:srgbClr val="F1C232"/>
                </a:highlight>
              </a:rPr>
              <a:t>Mitigations</a:t>
            </a:r>
            <a:endParaRPr>
              <a:solidFill>
                <a:schemeClr val="dk1"/>
              </a:solidFill>
              <a:highlight>
                <a:srgbClr val="F1C232"/>
              </a:highlight>
            </a:endParaRPr>
          </a:p>
        </p:txBody>
      </p:sp>
      <p:sp>
        <p:nvSpPr>
          <p:cNvPr id="141" name="Google Shape;141;p27"/>
          <p:cNvSpPr txBox="1"/>
          <p:nvPr/>
        </p:nvSpPr>
        <p:spPr>
          <a:xfrm>
            <a:off x="216000" y="699350"/>
            <a:ext cx="3336300" cy="1358100"/>
          </a:xfrm>
          <a:prstGeom prst="rect">
            <a:avLst/>
          </a:prstGeom>
          <a:solidFill>
            <a:srgbClr val="F1C23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     </a:t>
            </a:r>
            <a:r>
              <a:rPr b="1" lang="en" u="sng">
                <a:solidFill>
                  <a:schemeClr val="dk2"/>
                </a:solidFill>
              </a:rPr>
              <a:t>DNS SERVER CONFIGURATION</a:t>
            </a:r>
            <a:endParaRPr b="1" u="sng">
              <a:solidFill>
                <a:schemeClr val="dk2"/>
              </a:solidFill>
            </a:endParaRPr>
          </a:p>
          <a:p>
            <a:pPr indent="-317500" lvl="0" marL="457200" rtl="0" algn="l">
              <a:spcBef>
                <a:spcPts val="0"/>
              </a:spcBef>
              <a:spcAft>
                <a:spcPts val="0"/>
              </a:spcAft>
              <a:buClr>
                <a:schemeClr val="dk2"/>
              </a:buClr>
              <a:buSzPts val="1400"/>
              <a:buChar char="★"/>
            </a:pPr>
            <a:r>
              <a:rPr i="1" lang="en">
                <a:solidFill>
                  <a:schemeClr val="dk2"/>
                </a:solidFill>
              </a:rPr>
              <a:t>Use DNSSEC</a:t>
            </a:r>
            <a:endParaRPr i="1">
              <a:solidFill>
                <a:schemeClr val="dk2"/>
              </a:solidFill>
            </a:endParaRPr>
          </a:p>
          <a:p>
            <a:pPr indent="0" lvl="0" marL="457200" rtl="0" algn="l">
              <a:spcBef>
                <a:spcPts val="0"/>
              </a:spcBef>
              <a:spcAft>
                <a:spcPts val="0"/>
              </a:spcAft>
              <a:buNone/>
            </a:pPr>
            <a:r>
              <a:rPr i="1" lang="en">
                <a:solidFill>
                  <a:schemeClr val="dk2"/>
                </a:solidFill>
              </a:rPr>
              <a:t>{dig +dnssec (website).com}</a:t>
            </a:r>
            <a:endParaRPr i="1">
              <a:solidFill>
                <a:schemeClr val="dk2"/>
              </a:solidFill>
            </a:endParaRPr>
          </a:p>
          <a:p>
            <a:pPr indent="-317500" lvl="0" marL="457200" rtl="0" algn="l">
              <a:spcBef>
                <a:spcPts val="0"/>
              </a:spcBef>
              <a:spcAft>
                <a:spcPts val="0"/>
              </a:spcAft>
              <a:buClr>
                <a:schemeClr val="dk2"/>
              </a:buClr>
              <a:buSzPts val="1400"/>
              <a:buChar char="★"/>
            </a:pPr>
            <a:r>
              <a:rPr i="1" lang="en">
                <a:solidFill>
                  <a:schemeClr val="dk2"/>
                </a:solidFill>
              </a:rPr>
              <a:t>Randomize Source Ports &amp; Transaction IDs</a:t>
            </a:r>
            <a:endParaRPr i="1">
              <a:solidFill>
                <a:schemeClr val="dk2"/>
              </a:solidFill>
            </a:endParaRPr>
          </a:p>
          <a:p>
            <a:pPr indent="-317500" lvl="0" marL="457200" rtl="0" algn="l">
              <a:spcBef>
                <a:spcPts val="0"/>
              </a:spcBef>
              <a:spcAft>
                <a:spcPts val="0"/>
              </a:spcAft>
              <a:buClr>
                <a:schemeClr val="dk2"/>
              </a:buClr>
              <a:buSzPts val="1400"/>
              <a:buChar char="★"/>
            </a:pPr>
            <a:r>
              <a:rPr i="1" lang="en">
                <a:solidFill>
                  <a:schemeClr val="dk2"/>
                </a:solidFill>
              </a:rPr>
              <a:t>Implement RRL </a:t>
            </a:r>
            <a:endParaRPr i="1">
              <a:solidFill>
                <a:schemeClr val="dk2"/>
              </a:solidFill>
            </a:endParaRPr>
          </a:p>
        </p:txBody>
      </p:sp>
      <p:sp>
        <p:nvSpPr>
          <p:cNvPr id="142" name="Google Shape;142;p27"/>
          <p:cNvSpPr txBox="1"/>
          <p:nvPr/>
        </p:nvSpPr>
        <p:spPr>
          <a:xfrm>
            <a:off x="5862100" y="731425"/>
            <a:ext cx="3058200" cy="1422300"/>
          </a:xfrm>
          <a:prstGeom prst="rect">
            <a:avLst/>
          </a:prstGeom>
          <a:solidFill>
            <a:srgbClr val="F1C23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2"/>
                </a:solidFill>
              </a:rPr>
              <a:t>       </a:t>
            </a:r>
            <a:r>
              <a:rPr b="1" lang="en" u="sng">
                <a:solidFill>
                  <a:schemeClr val="dk2"/>
                </a:solidFill>
              </a:rPr>
              <a:t>NETWORK &amp; SYSTEM LEVEL                                                    PROTECTIONS</a:t>
            </a:r>
            <a:endParaRPr u="sng">
              <a:solidFill>
                <a:schemeClr val="dk2"/>
              </a:solidFill>
            </a:endParaRPr>
          </a:p>
          <a:p>
            <a:pPr indent="-317500" lvl="0" marL="457200" rtl="0" algn="l">
              <a:spcBef>
                <a:spcPts val="0"/>
              </a:spcBef>
              <a:spcAft>
                <a:spcPts val="0"/>
              </a:spcAft>
              <a:buClr>
                <a:schemeClr val="dk2"/>
              </a:buClr>
              <a:buSzPts val="1400"/>
              <a:buChar char="★"/>
            </a:pPr>
            <a:r>
              <a:rPr i="1" lang="en">
                <a:solidFill>
                  <a:schemeClr val="dk2"/>
                </a:solidFill>
              </a:rPr>
              <a:t>Enable IP source filtering &amp; Spoofing rules </a:t>
            </a:r>
            <a:endParaRPr i="1">
              <a:solidFill>
                <a:schemeClr val="dk2"/>
              </a:solidFill>
            </a:endParaRPr>
          </a:p>
          <a:p>
            <a:pPr indent="-317500" lvl="0" marL="457200" rtl="0" algn="l">
              <a:spcBef>
                <a:spcPts val="0"/>
              </a:spcBef>
              <a:spcAft>
                <a:spcPts val="0"/>
              </a:spcAft>
              <a:buClr>
                <a:schemeClr val="dk2"/>
              </a:buClr>
              <a:buSzPts val="1400"/>
              <a:buChar char="★"/>
            </a:pPr>
            <a:r>
              <a:rPr i="1" lang="en">
                <a:solidFill>
                  <a:schemeClr val="dk2"/>
                </a:solidFill>
              </a:rPr>
              <a:t>Use Firewalls</a:t>
            </a:r>
            <a:endParaRPr i="1">
              <a:solidFill>
                <a:schemeClr val="dk2"/>
              </a:solidFill>
            </a:endParaRPr>
          </a:p>
          <a:p>
            <a:pPr indent="-317500" lvl="0" marL="457200" rtl="0" algn="l">
              <a:spcBef>
                <a:spcPts val="0"/>
              </a:spcBef>
              <a:spcAft>
                <a:spcPts val="0"/>
              </a:spcAft>
              <a:buClr>
                <a:schemeClr val="dk2"/>
              </a:buClr>
              <a:buSzPts val="1400"/>
              <a:buChar char="★"/>
            </a:pPr>
            <a:r>
              <a:rPr i="1" lang="en">
                <a:solidFill>
                  <a:schemeClr val="dk2"/>
                </a:solidFill>
              </a:rPr>
              <a:t>Patch &amp; Update Regularly</a:t>
            </a:r>
            <a:endParaRPr i="1">
              <a:solidFill>
                <a:schemeClr val="dk2"/>
              </a:solidFill>
            </a:endParaRPr>
          </a:p>
        </p:txBody>
      </p:sp>
      <p:sp>
        <p:nvSpPr>
          <p:cNvPr id="143" name="Google Shape;143;p27"/>
          <p:cNvSpPr txBox="1"/>
          <p:nvPr/>
        </p:nvSpPr>
        <p:spPr>
          <a:xfrm>
            <a:off x="322950" y="3105350"/>
            <a:ext cx="3229200" cy="1775100"/>
          </a:xfrm>
          <a:prstGeom prst="rect">
            <a:avLst/>
          </a:prstGeom>
          <a:solidFill>
            <a:srgbClr val="F1C23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u="sng">
                <a:solidFill>
                  <a:schemeClr val="dk2"/>
                </a:solidFill>
              </a:rPr>
              <a:t>MONITORING &amp; INCIDENT RESPONSE</a:t>
            </a:r>
            <a:endParaRPr b="1" u="sng">
              <a:solidFill>
                <a:schemeClr val="dk2"/>
              </a:solidFill>
            </a:endParaRPr>
          </a:p>
          <a:p>
            <a:pPr indent="0" lvl="0" marL="0" rtl="0" algn="l">
              <a:spcBef>
                <a:spcPts val="0"/>
              </a:spcBef>
              <a:spcAft>
                <a:spcPts val="0"/>
              </a:spcAft>
              <a:buNone/>
            </a:pPr>
            <a:r>
              <a:t/>
            </a:r>
            <a:endParaRPr b="1" u="sng">
              <a:solidFill>
                <a:schemeClr val="dk2"/>
              </a:solidFill>
            </a:endParaRPr>
          </a:p>
          <a:p>
            <a:pPr indent="-317500" lvl="0" marL="457200" rtl="0" algn="l">
              <a:spcBef>
                <a:spcPts val="0"/>
              </a:spcBef>
              <a:spcAft>
                <a:spcPts val="0"/>
              </a:spcAft>
              <a:buClr>
                <a:schemeClr val="dk2"/>
              </a:buClr>
              <a:buSzPts val="1400"/>
              <a:buChar char="★"/>
            </a:pPr>
            <a:r>
              <a:rPr i="1" lang="en">
                <a:solidFill>
                  <a:schemeClr val="dk2"/>
                </a:solidFill>
              </a:rPr>
              <a:t>Log &amp; Monitor DNS Queries</a:t>
            </a:r>
            <a:endParaRPr i="1">
              <a:solidFill>
                <a:schemeClr val="dk2"/>
              </a:solidFill>
            </a:endParaRPr>
          </a:p>
          <a:p>
            <a:pPr indent="-317500" lvl="0" marL="457200" rtl="0" algn="l">
              <a:spcBef>
                <a:spcPts val="0"/>
              </a:spcBef>
              <a:spcAft>
                <a:spcPts val="0"/>
              </a:spcAft>
              <a:buClr>
                <a:schemeClr val="dk2"/>
              </a:buClr>
              <a:buSzPts val="1400"/>
              <a:buChar char="★"/>
            </a:pPr>
            <a:r>
              <a:rPr i="1" lang="en">
                <a:solidFill>
                  <a:schemeClr val="dk2"/>
                </a:solidFill>
              </a:rPr>
              <a:t>Implement Sinkholing</a:t>
            </a:r>
            <a:endParaRPr i="1">
              <a:solidFill>
                <a:schemeClr val="dk2"/>
              </a:solidFill>
            </a:endParaRPr>
          </a:p>
          <a:p>
            <a:pPr indent="-317500" lvl="0" marL="457200" rtl="0" algn="l">
              <a:spcBef>
                <a:spcPts val="0"/>
              </a:spcBef>
              <a:spcAft>
                <a:spcPts val="0"/>
              </a:spcAft>
              <a:buClr>
                <a:schemeClr val="dk2"/>
              </a:buClr>
              <a:buSzPts val="1400"/>
              <a:buChar char="★"/>
            </a:pPr>
            <a:r>
              <a:rPr i="1" lang="en">
                <a:solidFill>
                  <a:schemeClr val="dk2"/>
                </a:solidFill>
              </a:rPr>
              <a:t>Conduct security audits regularly</a:t>
            </a:r>
            <a:endParaRPr i="1">
              <a:solidFill>
                <a:schemeClr val="dk2"/>
              </a:solidFill>
            </a:endParaRPr>
          </a:p>
          <a:p>
            <a:pPr indent="0" lvl="0" marL="457200" rtl="0" algn="l">
              <a:spcBef>
                <a:spcPts val="0"/>
              </a:spcBef>
              <a:spcAft>
                <a:spcPts val="0"/>
              </a:spcAft>
              <a:buNone/>
            </a:pPr>
            <a:r>
              <a:t/>
            </a:r>
            <a:endParaRPr i="1">
              <a:solidFill>
                <a:schemeClr val="dk2"/>
              </a:solidFill>
            </a:endParaRPr>
          </a:p>
        </p:txBody>
      </p:sp>
      <p:sp>
        <p:nvSpPr>
          <p:cNvPr id="144" name="Google Shape;144;p27"/>
          <p:cNvSpPr txBox="1"/>
          <p:nvPr/>
        </p:nvSpPr>
        <p:spPr>
          <a:xfrm>
            <a:off x="5819325" y="2912875"/>
            <a:ext cx="3058200" cy="1924800"/>
          </a:xfrm>
          <a:prstGeom prst="rect">
            <a:avLst/>
          </a:prstGeom>
          <a:solidFill>
            <a:srgbClr val="F1C23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      </a:t>
            </a:r>
            <a:r>
              <a:rPr b="1" lang="en" u="sng">
                <a:solidFill>
                  <a:schemeClr val="dk2"/>
                </a:solidFill>
              </a:rPr>
              <a:t>PERSONAL PROTECTIONS</a:t>
            </a:r>
            <a:endParaRPr b="1" u="sng">
              <a:solidFill>
                <a:schemeClr val="dk2"/>
              </a:solidFill>
            </a:endParaRPr>
          </a:p>
          <a:p>
            <a:pPr indent="0" lvl="0" marL="0" rtl="0" algn="l">
              <a:spcBef>
                <a:spcPts val="0"/>
              </a:spcBef>
              <a:spcAft>
                <a:spcPts val="0"/>
              </a:spcAft>
              <a:buNone/>
            </a:pPr>
            <a:r>
              <a:t/>
            </a:r>
            <a:endParaRPr b="1" u="sng">
              <a:solidFill>
                <a:schemeClr val="dk2"/>
              </a:solidFill>
            </a:endParaRPr>
          </a:p>
          <a:p>
            <a:pPr indent="-317500" lvl="0" marL="457200" rtl="0" algn="l">
              <a:spcBef>
                <a:spcPts val="0"/>
              </a:spcBef>
              <a:spcAft>
                <a:spcPts val="0"/>
              </a:spcAft>
              <a:buClr>
                <a:schemeClr val="dk2"/>
              </a:buClr>
              <a:buSzPts val="1400"/>
              <a:buChar char="★"/>
            </a:pPr>
            <a:r>
              <a:rPr i="1" lang="en">
                <a:solidFill>
                  <a:schemeClr val="dk2"/>
                </a:solidFill>
              </a:rPr>
              <a:t>Phishing &amp; Spoofing education/awareness</a:t>
            </a:r>
            <a:endParaRPr i="1">
              <a:solidFill>
                <a:schemeClr val="dk2"/>
              </a:solidFill>
            </a:endParaRPr>
          </a:p>
          <a:p>
            <a:pPr indent="0" lvl="0" marL="457200" rtl="0" algn="l">
              <a:spcBef>
                <a:spcPts val="0"/>
              </a:spcBef>
              <a:spcAft>
                <a:spcPts val="0"/>
              </a:spcAft>
              <a:buNone/>
            </a:pPr>
            <a:r>
              <a:t/>
            </a:r>
            <a:endParaRPr i="1">
              <a:solidFill>
                <a:schemeClr val="dk2"/>
              </a:solidFill>
            </a:endParaRPr>
          </a:p>
          <a:p>
            <a:pPr indent="-317500" lvl="0" marL="457200" rtl="0" algn="l">
              <a:spcBef>
                <a:spcPts val="0"/>
              </a:spcBef>
              <a:spcAft>
                <a:spcPts val="0"/>
              </a:spcAft>
              <a:buClr>
                <a:schemeClr val="dk2"/>
              </a:buClr>
              <a:buSzPts val="1400"/>
              <a:buChar char="★"/>
            </a:pPr>
            <a:r>
              <a:rPr i="1" lang="en">
                <a:solidFill>
                  <a:schemeClr val="dk2"/>
                </a:solidFill>
              </a:rPr>
              <a:t>Implement Antivirus &amp; Browser Protections</a:t>
            </a:r>
            <a:endParaRPr i="1">
              <a:solidFill>
                <a:schemeClr val="dk2"/>
              </a:solidFill>
            </a:endParaRPr>
          </a:p>
          <a:p>
            <a:pPr indent="0" lvl="0" marL="457200" rtl="0" algn="l">
              <a:spcBef>
                <a:spcPts val="0"/>
              </a:spcBef>
              <a:spcAft>
                <a:spcPts val="0"/>
              </a:spcAft>
              <a:buNone/>
            </a:pPr>
            <a:r>
              <a:t/>
            </a:r>
            <a:endParaRPr i="1">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1"/>
                                        </p:tgtEl>
                                        <p:attrNameLst>
                                          <p:attrName>style.visibility</p:attrName>
                                        </p:attrNameLst>
                                      </p:cBhvr>
                                      <p:to>
                                        <p:strVal val="visible"/>
                                      </p:to>
                                    </p:set>
                                    <p:anim calcmode="lin" valueType="num">
                                      <p:cBhvr additive="base">
                                        <p:cTn dur="1000"/>
                                        <p:tgtEl>
                                          <p:spTgt spid="141"/>
                                        </p:tgtEl>
                                        <p:attrNameLst>
                                          <p:attrName>ppt_w</p:attrName>
                                        </p:attrNameLst>
                                      </p:cBhvr>
                                      <p:tavLst>
                                        <p:tav fmla="" tm="0">
                                          <p:val>
                                            <p:strVal val="0"/>
                                          </p:val>
                                        </p:tav>
                                        <p:tav fmla="" tm="100000">
                                          <p:val>
                                            <p:strVal val="#ppt_w"/>
                                          </p:val>
                                        </p:tav>
                                      </p:tavLst>
                                    </p:anim>
                                    <p:anim calcmode="lin" valueType="num">
                                      <p:cBhvr additive="base">
                                        <p:cTn dur="1000"/>
                                        <p:tgtEl>
                                          <p:spTgt spid="14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2"/>
                                        </p:tgtEl>
                                        <p:attrNameLst>
                                          <p:attrName>style.visibility</p:attrName>
                                        </p:attrNameLst>
                                      </p:cBhvr>
                                      <p:to>
                                        <p:strVal val="visible"/>
                                      </p:to>
                                    </p:set>
                                    <p:anim calcmode="lin" valueType="num">
                                      <p:cBhvr additive="base">
                                        <p:cTn dur="1000"/>
                                        <p:tgtEl>
                                          <p:spTgt spid="142"/>
                                        </p:tgtEl>
                                        <p:attrNameLst>
                                          <p:attrName>ppt_w</p:attrName>
                                        </p:attrNameLst>
                                      </p:cBhvr>
                                      <p:tavLst>
                                        <p:tav fmla="" tm="0">
                                          <p:val>
                                            <p:strVal val="0"/>
                                          </p:val>
                                        </p:tav>
                                        <p:tav fmla="" tm="100000">
                                          <p:val>
                                            <p:strVal val="#ppt_w"/>
                                          </p:val>
                                        </p:tav>
                                      </p:tavLst>
                                    </p:anim>
                                    <p:anim calcmode="lin" valueType="num">
                                      <p:cBhvr additive="base">
                                        <p:cTn dur="1000"/>
                                        <p:tgtEl>
                                          <p:spTgt spid="14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3"/>
                                        </p:tgtEl>
                                        <p:attrNameLst>
                                          <p:attrName>style.visibility</p:attrName>
                                        </p:attrNameLst>
                                      </p:cBhvr>
                                      <p:to>
                                        <p:strVal val="visible"/>
                                      </p:to>
                                    </p:set>
                                    <p:anim calcmode="lin" valueType="num">
                                      <p:cBhvr additive="base">
                                        <p:cTn dur="1000"/>
                                        <p:tgtEl>
                                          <p:spTgt spid="143"/>
                                        </p:tgtEl>
                                        <p:attrNameLst>
                                          <p:attrName>ppt_w</p:attrName>
                                        </p:attrNameLst>
                                      </p:cBhvr>
                                      <p:tavLst>
                                        <p:tav fmla="" tm="0">
                                          <p:val>
                                            <p:strVal val="0"/>
                                          </p:val>
                                        </p:tav>
                                        <p:tav fmla="" tm="100000">
                                          <p:val>
                                            <p:strVal val="#ppt_w"/>
                                          </p:val>
                                        </p:tav>
                                      </p:tavLst>
                                    </p:anim>
                                    <p:anim calcmode="lin" valueType="num">
                                      <p:cBhvr additive="base">
                                        <p:cTn dur="1000"/>
                                        <p:tgtEl>
                                          <p:spTgt spid="14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4"/>
                                        </p:tgtEl>
                                        <p:attrNameLst>
                                          <p:attrName>style.visibility</p:attrName>
                                        </p:attrNameLst>
                                      </p:cBhvr>
                                      <p:to>
                                        <p:strVal val="visible"/>
                                      </p:to>
                                    </p:set>
                                    <p:anim calcmode="lin" valueType="num">
                                      <p:cBhvr additive="base">
                                        <p:cTn dur="1000"/>
                                        <p:tgtEl>
                                          <p:spTgt spid="144"/>
                                        </p:tgtEl>
                                        <p:attrNameLst>
                                          <p:attrName>ppt_w</p:attrName>
                                        </p:attrNameLst>
                                      </p:cBhvr>
                                      <p:tavLst>
                                        <p:tav fmla="" tm="0">
                                          <p:val>
                                            <p:strVal val="0"/>
                                          </p:val>
                                        </p:tav>
                                        <p:tav fmla="" tm="100000">
                                          <p:val>
                                            <p:strVal val="#ppt_w"/>
                                          </p:val>
                                        </p:tav>
                                      </p:tavLst>
                                    </p:anim>
                                    <p:anim calcmode="lin" valueType="num">
                                      <p:cBhvr additive="base">
                                        <p:cTn dur="1000"/>
                                        <p:tgtEl>
                                          <p:spTgt spid="14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8" name="Shape 148"/>
        <p:cNvGrpSpPr/>
        <p:nvPr/>
      </p:nvGrpSpPr>
      <p:grpSpPr>
        <a:xfrm>
          <a:off x="0" y="0"/>
          <a:ext cx="0" cy="0"/>
          <a:chOff x="0" y="0"/>
          <a:chExt cx="0" cy="0"/>
        </a:xfrm>
      </p:grpSpPr>
      <p:sp>
        <p:nvSpPr>
          <p:cNvPr id="149" name="Google Shape;149;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0" name="Google Shape;150;p28" title="hacker pic 2.jpg"/>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2500" fill="hold"/>
                                        <p:tgtEl>
                                          <p:spTgt spid="150"/>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4" name="Shape 154"/>
        <p:cNvGrpSpPr/>
        <p:nvPr/>
      </p:nvGrpSpPr>
      <p:grpSpPr>
        <a:xfrm>
          <a:off x="0" y="0"/>
          <a:ext cx="0" cy="0"/>
          <a:chOff x="0" y="0"/>
          <a:chExt cx="0" cy="0"/>
        </a:xfrm>
      </p:grpSpPr>
      <p:sp>
        <p:nvSpPr>
          <p:cNvPr id="155" name="Google Shape;155;p29"/>
          <p:cNvSpPr txBox="1"/>
          <p:nvPr>
            <p:ph idx="1" type="body"/>
          </p:nvPr>
        </p:nvSpPr>
        <p:spPr>
          <a:xfrm>
            <a:off x="632500" y="5244000"/>
            <a:ext cx="1080600" cy="4008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6" name="Google Shape;156;p29" title="kobe.mov">
            <a:hlinkClick r:id="rId4"/>
          </p:cNvPr>
          <p:cNvPicPr preferRelativeResize="0"/>
          <p:nvPr/>
        </p:nvPicPr>
        <p:blipFill>
          <a:blip r:embed="rId5">
            <a:alphaModFix/>
          </a:blip>
          <a:stretch>
            <a:fillRect/>
          </a:stretch>
        </p:blipFill>
        <p:spPr>
          <a:xfrm>
            <a:off x="1847850" y="432000"/>
            <a:ext cx="5276049" cy="43094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gtEl>
                                        <p:attrNameLst>
                                          <p:attrName>style.visibility</p:attrName>
                                        </p:attrNameLst>
                                      </p:cBhvr>
                                      <p:to>
                                        <p:strVal val="visible"/>
                                      </p:to>
                                    </p:set>
                                    <p:animEffect filter="fade" transition="in">
                                      <p:cBhvr>
                                        <p:cTn dur="1000"/>
                                        <p:tgtEl>
                                          <p:spTgt spid="1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0" name="Shape 160"/>
        <p:cNvGrpSpPr/>
        <p:nvPr/>
      </p:nvGrpSpPr>
      <p:grpSpPr>
        <a:xfrm>
          <a:off x="0" y="0"/>
          <a:ext cx="0" cy="0"/>
          <a:chOff x="0" y="0"/>
          <a:chExt cx="0" cy="0"/>
        </a:xfrm>
      </p:grpSpPr>
      <p:sp>
        <p:nvSpPr>
          <p:cNvPr id="161" name="Google Shape;161;p30"/>
          <p:cNvSpPr txBox="1"/>
          <p:nvPr>
            <p:ph idx="1" type="body"/>
          </p:nvPr>
        </p:nvSpPr>
        <p:spPr>
          <a:xfrm>
            <a:off x="2055275" y="4545900"/>
            <a:ext cx="4812000" cy="5976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523"/>
              <a:buNone/>
            </a:pPr>
            <a:r>
              <a:rPr lang="en" sz="1055"/>
              <a:t>                </a:t>
            </a:r>
            <a:r>
              <a:rPr lang="en" sz="2586"/>
              <a:t>          </a:t>
            </a:r>
            <a:r>
              <a:rPr b="1" lang="en" sz="2686" u="sng">
                <a:solidFill>
                  <a:schemeClr val="dk1"/>
                </a:solidFill>
                <a:highlight>
                  <a:srgbClr val="F1C232"/>
                </a:highlight>
              </a:rPr>
              <a:t>Conclusion</a:t>
            </a:r>
            <a:endParaRPr b="1" sz="2686" u="sng">
              <a:solidFill>
                <a:schemeClr val="dk1"/>
              </a:solidFill>
              <a:highlight>
                <a:srgbClr val="F1C232"/>
              </a:highlight>
            </a:endParaRPr>
          </a:p>
        </p:txBody>
      </p:sp>
      <p:sp>
        <p:nvSpPr>
          <p:cNvPr id="162" name="Google Shape;162;p30"/>
          <p:cNvSpPr txBox="1"/>
          <p:nvPr/>
        </p:nvSpPr>
        <p:spPr>
          <a:xfrm>
            <a:off x="1702375" y="1501350"/>
            <a:ext cx="1561200" cy="438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a:solidFill>
                  <a:schemeClr val="dk2"/>
                </a:solidFill>
              </a:rPr>
              <a:t>   </a:t>
            </a:r>
            <a:r>
              <a:rPr lang="en">
                <a:solidFill>
                  <a:schemeClr val="dk1"/>
                </a:solidFill>
                <a:highlight>
                  <a:srgbClr val="F1C232"/>
                </a:highlight>
              </a:rPr>
              <a:t>DNS Spoofing</a:t>
            </a:r>
            <a:endParaRPr>
              <a:solidFill>
                <a:schemeClr val="dk1"/>
              </a:solidFill>
              <a:highlight>
                <a:srgbClr val="F1C232"/>
              </a:highlight>
            </a:endParaRPr>
          </a:p>
        </p:txBody>
      </p:sp>
      <p:sp>
        <p:nvSpPr>
          <p:cNvPr id="163" name="Google Shape;163;p30"/>
          <p:cNvSpPr txBox="1"/>
          <p:nvPr/>
        </p:nvSpPr>
        <p:spPr>
          <a:xfrm>
            <a:off x="280175" y="1383725"/>
            <a:ext cx="1283100" cy="105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highlight>
                  <a:srgbClr val="F1C232"/>
                </a:highlight>
              </a:rPr>
              <a:t>Kali- Linux</a:t>
            </a:r>
            <a:endParaRPr>
              <a:solidFill>
                <a:schemeClr val="dk1"/>
              </a:solidFill>
              <a:highlight>
                <a:srgbClr val="F1C232"/>
              </a:highlight>
            </a:endParaRPr>
          </a:p>
          <a:p>
            <a:pPr indent="0" lvl="0" marL="0" rtl="0" algn="l">
              <a:spcBef>
                <a:spcPts val="0"/>
              </a:spcBef>
              <a:spcAft>
                <a:spcPts val="0"/>
              </a:spcAft>
              <a:buNone/>
            </a:pPr>
            <a:r>
              <a:rPr lang="en">
                <a:solidFill>
                  <a:schemeClr val="dk1"/>
                </a:solidFill>
                <a:highlight>
                  <a:srgbClr val="F1C232"/>
                </a:highlight>
              </a:rPr>
              <a:t>Ubuntu</a:t>
            </a:r>
            <a:endParaRPr>
              <a:solidFill>
                <a:schemeClr val="dk1"/>
              </a:solidFill>
              <a:highlight>
                <a:srgbClr val="F1C232"/>
              </a:highlight>
            </a:endParaRPr>
          </a:p>
          <a:p>
            <a:pPr indent="0" lvl="0" marL="0" rtl="0" algn="l">
              <a:spcBef>
                <a:spcPts val="0"/>
              </a:spcBef>
              <a:spcAft>
                <a:spcPts val="0"/>
              </a:spcAft>
              <a:buNone/>
            </a:pPr>
            <a:r>
              <a:rPr lang="en">
                <a:solidFill>
                  <a:schemeClr val="dk1"/>
                </a:solidFill>
                <a:highlight>
                  <a:srgbClr val="F1C232"/>
                </a:highlight>
              </a:rPr>
              <a:t>Ettercap</a:t>
            </a:r>
            <a:endParaRPr>
              <a:solidFill>
                <a:schemeClr val="dk1"/>
              </a:solidFill>
              <a:highlight>
                <a:srgbClr val="F1C232"/>
              </a:highlight>
            </a:endParaRPr>
          </a:p>
          <a:p>
            <a:pPr indent="0" lvl="0" marL="0" rtl="0" algn="l">
              <a:spcBef>
                <a:spcPts val="0"/>
              </a:spcBef>
              <a:spcAft>
                <a:spcPts val="0"/>
              </a:spcAft>
              <a:buNone/>
            </a:pPr>
            <a:r>
              <a:rPr lang="en">
                <a:solidFill>
                  <a:schemeClr val="dk1"/>
                </a:solidFill>
                <a:highlight>
                  <a:srgbClr val="F1C232"/>
                </a:highlight>
              </a:rPr>
              <a:t>Apache2</a:t>
            </a:r>
            <a:endParaRPr>
              <a:solidFill>
                <a:schemeClr val="dk1"/>
              </a:solidFill>
              <a:highlight>
                <a:srgbClr val="F1C232"/>
              </a:highlight>
            </a:endParaRPr>
          </a:p>
        </p:txBody>
      </p:sp>
      <p:sp>
        <p:nvSpPr>
          <p:cNvPr id="164" name="Google Shape;164;p30"/>
          <p:cNvSpPr txBox="1"/>
          <p:nvPr/>
        </p:nvSpPr>
        <p:spPr>
          <a:xfrm>
            <a:off x="494025" y="3244350"/>
            <a:ext cx="2823000" cy="374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Clr>
                <a:schemeClr val="dk1"/>
              </a:buClr>
              <a:buSzPts val="1100"/>
              <a:buFont typeface="Arial"/>
              <a:buNone/>
            </a:pPr>
            <a:r>
              <a:rPr lang="en">
                <a:solidFill>
                  <a:schemeClr val="dk1"/>
                </a:solidFill>
                <a:highlight>
                  <a:srgbClr val="F1C232"/>
                </a:highlight>
              </a:rPr>
              <a:t>STEPS TO DEMONSTRATION</a:t>
            </a:r>
            <a:endParaRPr>
              <a:solidFill>
                <a:schemeClr val="dk2"/>
              </a:solidFill>
            </a:endParaRPr>
          </a:p>
        </p:txBody>
      </p:sp>
      <p:sp>
        <p:nvSpPr>
          <p:cNvPr id="165" name="Google Shape;165;p30"/>
          <p:cNvSpPr txBox="1"/>
          <p:nvPr/>
        </p:nvSpPr>
        <p:spPr>
          <a:xfrm>
            <a:off x="6257725" y="3028250"/>
            <a:ext cx="2192100" cy="54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highlight>
                  <a:srgbClr val="F1C232"/>
                </a:highlight>
              </a:rPr>
              <a:t>Conduct Spoofing </a:t>
            </a:r>
            <a:endParaRPr>
              <a:solidFill>
                <a:schemeClr val="dk1"/>
              </a:solidFill>
              <a:highlight>
                <a:srgbClr val="F1C232"/>
              </a:highlight>
            </a:endParaRPr>
          </a:p>
          <a:p>
            <a:pPr indent="0" lvl="0" marL="0" rtl="0" algn="ctr">
              <a:spcBef>
                <a:spcPts val="0"/>
              </a:spcBef>
              <a:spcAft>
                <a:spcPts val="0"/>
              </a:spcAft>
              <a:buNone/>
            </a:pPr>
            <a:r>
              <a:rPr lang="en">
                <a:solidFill>
                  <a:schemeClr val="dk1"/>
                </a:solidFill>
                <a:highlight>
                  <a:srgbClr val="F1C232"/>
                </a:highlight>
              </a:rPr>
              <a:t>Successfully </a:t>
            </a:r>
            <a:endParaRPr>
              <a:solidFill>
                <a:schemeClr val="dk1"/>
              </a:solidFill>
              <a:highlight>
                <a:srgbClr val="F1C232"/>
              </a:highlight>
            </a:endParaRPr>
          </a:p>
        </p:txBody>
      </p:sp>
      <p:sp>
        <p:nvSpPr>
          <p:cNvPr id="166" name="Google Shape;166;p30"/>
          <p:cNvSpPr txBox="1"/>
          <p:nvPr/>
        </p:nvSpPr>
        <p:spPr>
          <a:xfrm>
            <a:off x="6995600" y="1631325"/>
            <a:ext cx="19890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highlight>
                  <a:srgbClr val="F1C232"/>
                </a:highlight>
              </a:rPr>
              <a:t>Defense Mechanisms</a:t>
            </a:r>
            <a:endParaRPr>
              <a:solidFill>
                <a:schemeClr val="dk1"/>
              </a:solidFill>
              <a:highlight>
                <a:srgbClr val="F1C232"/>
              </a:highlight>
            </a:endParaRPr>
          </a:p>
          <a:p>
            <a:pPr indent="0" lvl="0" marL="0" rtl="0" algn="l">
              <a:spcBef>
                <a:spcPts val="0"/>
              </a:spcBef>
              <a:spcAft>
                <a:spcPts val="0"/>
              </a:spcAft>
              <a:buNone/>
            </a:pPr>
            <a:r>
              <a:rPr lang="en">
                <a:solidFill>
                  <a:schemeClr val="dk1"/>
                </a:solidFill>
                <a:highlight>
                  <a:srgbClr val="F1C232"/>
                </a:highlight>
              </a:rPr>
              <a:t>Security Protocols</a:t>
            </a:r>
            <a:endParaRPr>
              <a:solidFill>
                <a:schemeClr val="dk1"/>
              </a:solidFill>
              <a:highlight>
                <a:srgbClr val="F1C232"/>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61"/>
                                        </p:tgtEl>
                                      </p:cBhvr>
                                    </p:animEffect>
                                    <p:set>
                                      <p:cBhvr>
                                        <p:cTn dur="1" fill="hold">
                                          <p:stCondLst>
                                            <p:cond delay="1000"/>
                                          </p:stCondLst>
                                        </p:cTn>
                                        <p:tgtEl>
                                          <p:spTgt spid="16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62"/>
                                        </p:tgtEl>
                                      </p:cBhvr>
                                    </p:animEffect>
                                    <p:set>
                                      <p:cBhvr>
                                        <p:cTn dur="1" fill="hold">
                                          <p:stCondLst>
                                            <p:cond delay="1000"/>
                                          </p:stCondLst>
                                        </p:cTn>
                                        <p:tgtEl>
                                          <p:spTgt spid="16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63"/>
                                        </p:tgtEl>
                                      </p:cBhvr>
                                    </p:animEffect>
                                    <p:set>
                                      <p:cBhvr>
                                        <p:cTn dur="1" fill="hold">
                                          <p:stCondLst>
                                            <p:cond delay="1000"/>
                                          </p:stCondLst>
                                        </p:cTn>
                                        <p:tgtEl>
                                          <p:spTgt spid="16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64"/>
                                        </p:tgtEl>
                                      </p:cBhvr>
                                    </p:animEffect>
                                    <p:set>
                                      <p:cBhvr>
                                        <p:cTn dur="1" fill="hold">
                                          <p:stCondLst>
                                            <p:cond delay="1000"/>
                                          </p:stCondLst>
                                        </p:cTn>
                                        <p:tgtEl>
                                          <p:spTgt spid="16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66"/>
                                        </p:tgtEl>
                                      </p:cBhvr>
                                    </p:animEffect>
                                    <p:set>
                                      <p:cBhvr>
                                        <p:cTn dur="1" fill="hold">
                                          <p:stCondLst>
                                            <p:cond delay="1000"/>
                                          </p:stCondLst>
                                        </p:cTn>
                                        <p:tgtEl>
                                          <p:spTgt spid="16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65"/>
                                        </p:tgtEl>
                                      </p:cBhvr>
                                    </p:animEffect>
                                    <p:set>
                                      <p:cBhvr>
                                        <p:cTn dur="1" fill="hold">
                                          <p:stCondLst>
                                            <p:cond delay="1000"/>
                                          </p:stCondLst>
                                        </p:cTn>
                                        <p:tgtEl>
                                          <p:spTgt spid="16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66"/>
                                        </p:tgtEl>
                                      </p:cBhvr>
                                    </p:animEffect>
                                    <p:set>
                                      <p:cBhvr>
                                        <p:cTn dur="1" fill="hold">
                                          <p:stCondLst>
                                            <p:cond delay="1000"/>
                                          </p:stCondLst>
                                        </p:cTn>
                                        <p:tgtEl>
                                          <p:spTgt spid="16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0" name="Shape 170"/>
        <p:cNvGrpSpPr/>
        <p:nvPr/>
      </p:nvGrpSpPr>
      <p:grpSpPr>
        <a:xfrm>
          <a:off x="0" y="0"/>
          <a:ext cx="0" cy="0"/>
          <a:chOff x="0" y="0"/>
          <a:chExt cx="0" cy="0"/>
        </a:xfrm>
      </p:grpSpPr>
      <p:sp>
        <p:nvSpPr>
          <p:cNvPr id="171" name="Google Shape;171;p31"/>
          <p:cNvSpPr txBox="1"/>
          <p:nvPr/>
        </p:nvSpPr>
        <p:spPr>
          <a:xfrm>
            <a:off x="3073675" y="101800"/>
            <a:ext cx="2781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            </a:t>
            </a:r>
            <a:r>
              <a:rPr lang="en" sz="1800">
                <a:solidFill>
                  <a:schemeClr val="dk1"/>
                </a:solidFill>
                <a:highlight>
                  <a:srgbClr val="F1C232"/>
                </a:highlight>
              </a:rPr>
              <a:t>Resources</a:t>
            </a:r>
            <a:endParaRPr sz="1800">
              <a:solidFill>
                <a:schemeClr val="dk1"/>
              </a:solidFill>
              <a:highlight>
                <a:srgbClr val="F1C232"/>
              </a:highlight>
            </a:endParaRPr>
          </a:p>
        </p:txBody>
      </p:sp>
      <p:sp>
        <p:nvSpPr>
          <p:cNvPr id="172" name="Google Shape;172;p31"/>
          <p:cNvSpPr txBox="1"/>
          <p:nvPr/>
        </p:nvSpPr>
        <p:spPr>
          <a:xfrm>
            <a:off x="579600" y="517575"/>
            <a:ext cx="8373000" cy="40206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chemeClr val="dk1"/>
              </a:buClr>
              <a:buSzPts val="2000"/>
              <a:buChar char="❏"/>
            </a:pPr>
            <a:r>
              <a:rPr lang="en" sz="2000" u="sng">
                <a:solidFill>
                  <a:schemeClr val="dk1"/>
                </a:solidFill>
                <a:highlight>
                  <a:srgbClr val="F1C232"/>
                </a:highlight>
                <a:hlinkClick r:id="rId4">
                  <a:extLst>
                    <a:ext uri="{A12FA001-AC4F-418D-AE19-62706E023703}">
                      <ahyp:hlinkClr val="tx"/>
                    </a:ext>
                  </a:extLst>
                </a:hlinkClick>
              </a:rPr>
              <a:t>Practical Demonstration: DNS Spoofing + Home Lab | by Ally Petitt | Medium</a:t>
            </a:r>
            <a:endParaRPr sz="2000">
              <a:solidFill>
                <a:schemeClr val="dk1"/>
              </a:solidFill>
              <a:highlight>
                <a:srgbClr val="F1C232"/>
              </a:highlight>
            </a:endParaRPr>
          </a:p>
          <a:p>
            <a:pPr indent="0" lvl="0" marL="457200" rtl="0" algn="l">
              <a:spcBef>
                <a:spcPts val="0"/>
              </a:spcBef>
              <a:spcAft>
                <a:spcPts val="0"/>
              </a:spcAft>
              <a:buNone/>
            </a:pPr>
            <a:r>
              <a:t/>
            </a:r>
            <a:endParaRPr sz="1800">
              <a:solidFill>
                <a:schemeClr val="dk1"/>
              </a:solidFill>
              <a:highlight>
                <a:srgbClr val="F1C232"/>
              </a:highlight>
            </a:endParaRPr>
          </a:p>
          <a:p>
            <a:pPr indent="-355600" lvl="0" marL="457200" rtl="0" algn="l">
              <a:spcBef>
                <a:spcPts val="0"/>
              </a:spcBef>
              <a:spcAft>
                <a:spcPts val="0"/>
              </a:spcAft>
              <a:buClr>
                <a:schemeClr val="dk1"/>
              </a:buClr>
              <a:buSzPts val="2000"/>
              <a:buChar char="❏"/>
            </a:pPr>
            <a:r>
              <a:rPr lang="en" sz="2000" u="sng">
                <a:solidFill>
                  <a:schemeClr val="dk1"/>
                </a:solidFill>
                <a:highlight>
                  <a:srgbClr val="F1C232"/>
                </a:highlight>
                <a:hlinkClick r:id="rId5">
                  <a:extLst>
                    <a:ext uri="{A12FA001-AC4F-418D-AE19-62706E023703}">
                      <ahyp:hlinkClr val="tx"/>
                    </a:ext>
                  </a:extLst>
                </a:hlinkClick>
              </a:rPr>
              <a:t>Attacks: TutorialDNS  &amp; Prevention Best Practices</a:t>
            </a:r>
            <a:endParaRPr sz="2000">
              <a:solidFill>
                <a:schemeClr val="dk1"/>
              </a:solidFill>
              <a:highlight>
                <a:srgbClr val="F1C232"/>
              </a:highlight>
            </a:endParaRPr>
          </a:p>
          <a:p>
            <a:pPr indent="0" lvl="0" marL="457200" rtl="0" algn="l">
              <a:spcBef>
                <a:spcPts val="0"/>
              </a:spcBef>
              <a:spcAft>
                <a:spcPts val="0"/>
              </a:spcAft>
              <a:buNone/>
            </a:pPr>
            <a:r>
              <a:t/>
            </a:r>
            <a:endParaRPr sz="2000">
              <a:solidFill>
                <a:schemeClr val="dk1"/>
              </a:solidFill>
              <a:highlight>
                <a:srgbClr val="F1C232"/>
              </a:highlight>
            </a:endParaRPr>
          </a:p>
          <a:p>
            <a:pPr indent="-355600" lvl="0" marL="457200" rtl="0" algn="l">
              <a:spcBef>
                <a:spcPts val="0"/>
              </a:spcBef>
              <a:spcAft>
                <a:spcPts val="0"/>
              </a:spcAft>
              <a:buClr>
                <a:schemeClr val="dk1"/>
              </a:buClr>
              <a:buSzPts val="2000"/>
              <a:buChar char="❏"/>
            </a:pPr>
            <a:r>
              <a:rPr lang="en" sz="2000" u="sng">
                <a:solidFill>
                  <a:schemeClr val="dk1"/>
                </a:solidFill>
                <a:highlight>
                  <a:srgbClr val="F1C232"/>
                </a:highlight>
                <a:hlinkClick r:id="rId6">
                  <a:extLst>
                    <a:ext uri="{A12FA001-AC4F-418D-AE19-62706E023703}">
                      <ahyp:hlinkClr val="tx"/>
                    </a:ext>
                  </a:extLst>
                </a:hlinkClick>
              </a:rPr>
              <a:t>Weaponizing DHCP DNS Spoofing — A Hands-On Guide | Akamai</a:t>
            </a:r>
            <a:endParaRPr sz="2000">
              <a:solidFill>
                <a:schemeClr val="dk1"/>
              </a:solidFill>
              <a:highlight>
                <a:srgbClr val="F1C232"/>
              </a:highlight>
            </a:endParaRPr>
          </a:p>
          <a:p>
            <a:pPr indent="0" lvl="0" marL="457200" rtl="0" algn="l">
              <a:spcBef>
                <a:spcPts val="0"/>
              </a:spcBef>
              <a:spcAft>
                <a:spcPts val="0"/>
              </a:spcAft>
              <a:buNone/>
            </a:pPr>
            <a:r>
              <a:t/>
            </a:r>
            <a:endParaRPr sz="2000">
              <a:solidFill>
                <a:schemeClr val="dk1"/>
              </a:solidFill>
              <a:highlight>
                <a:srgbClr val="F1C232"/>
              </a:highlight>
            </a:endParaRPr>
          </a:p>
          <a:p>
            <a:pPr indent="-355600" lvl="0" marL="457200" rtl="0" algn="l">
              <a:spcBef>
                <a:spcPts val="0"/>
              </a:spcBef>
              <a:spcAft>
                <a:spcPts val="0"/>
              </a:spcAft>
              <a:buClr>
                <a:schemeClr val="dk1"/>
              </a:buClr>
              <a:buSzPts val="2000"/>
              <a:buChar char="❏"/>
            </a:pPr>
            <a:r>
              <a:rPr lang="en" sz="2000">
                <a:solidFill>
                  <a:schemeClr val="dk1"/>
                </a:solidFill>
                <a:highlight>
                  <a:srgbClr val="F1C232"/>
                </a:highlight>
              </a:rPr>
              <a:t>https://www.splunk.com/en_us/blog/learn/man-in-the-middle-attacks.html</a:t>
            </a:r>
            <a:endParaRPr sz="2000">
              <a:solidFill>
                <a:schemeClr val="dk1"/>
              </a:solidFill>
              <a:highlight>
                <a:srgbClr val="F1C232"/>
              </a:highlight>
            </a:endParaRPr>
          </a:p>
          <a:p>
            <a:pPr indent="0" lvl="0" marL="457200" rtl="0" algn="l">
              <a:spcBef>
                <a:spcPts val="0"/>
              </a:spcBef>
              <a:spcAft>
                <a:spcPts val="0"/>
              </a:spcAft>
              <a:buNone/>
            </a:pPr>
            <a:r>
              <a:t/>
            </a:r>
            <a:endParaRPr sz="2000">
              <a:solidFill>
                <a:schemeClr val="dk1"/>
              </a:solidFill>
              <a:highlight>
                <a:srgbClr val="F1C232"/>
              </a:highlight>
            </a:endParaRPr>
          </a:p>
          <a:p>
            <a:pPr indent="-342900" lvl="0" marL="457200" rtl="0" algn="l">
              <a:spcBef>
                <a:spcPts val="0"/>
              </a:spcBef>
              <a:spcAft>
                <a:spcPts val="0"/>
              </a:spcAft>
              <a:buClr>
                <a:schemeClr val="dk1"/>
              </a:buClr>
              <a:buSzPts val="1800"/>
              <a:buChar char="❏"/>
            </a:pPr>
            <a:r>
              <a:rPr lang="en" sz="1800" u="sng">
                <a:solidFill>
                  <a:schemeClr val="hlink"/>
                </a:solidFill>
                <a:highlight>
                  <a:srgbClr val="F1C232"/>
                </a:highlight>
                <a:hlinkClick r:id="rId7"/>
              </a:rPr>
              <a:t>https://cuvirtcyberpt-lwd8328.slack.com/files/U080VCFL59S/F08RDDNL65V/img_7496.png</a:t>
            </a:r>
            <a:endParaRPr sz="1800">
              <a:solidFill>
                <a:schemeClr val="dk1"/>
              </a:solidFill>
              <a:highlight>
                <a:srgbClr val="F1C232"/>
              </a:highlight>
            </a:endParaRPr>
          </a:p>
          <a:p>
            <a:pPr indent="0" lvl="0" marL="0" rtl="0" algn="l">
              <a:spcBef>
                <a:spcPts val="0"/>
              </a:spcBef>
              <a:spcAft>
                <a:spcPts val="0"/>
              </a:spcAft>
              <a:buNone/>
            </a:pPr>
            <a:r>
              <a:t/>
            </a:r>
            <a:endParaRPr sz="1800">
              <a:solidFill>
                <a:schemeClr val="dk1"/>
              </a:solidFill>
              <a:highlight>
                <a:srgbClr val="F1C232"/>
              </a:highlight>
            </a:endParaRPr>
          </a:p>
          <a:p>
            <a:pPr indent="-342900" lvl="0" marL="457200" rtl="0" algn="l">
              <a:spcBef>
                <a:spcPts val="0"/>
              </a:spcBef>
              <a:spcAft>
                <a:spcPts val="0"/>
              </a:spcAft>
              <a:buClr>
                <a:schemeClr val="dk1"/>
              </a:buClr>
              <a:buSzPts val="1800"/>
              <a:buChar char="❏"/>
            </a:pPr>
            <a:r>
              <a:rPr lang="en" sz="1800" u="sng">
                <a:solidFill>
                  <a:schemeClr val="hlink"/>
                </a:solidFill>
                <a:highlight>
                  <a:srgbClr val="F1C232"/>
                </a:highlight>
                <a:hlinkClick r:id="rId8"/>
              </a:rPr>
              <a:t>https://cuvirtcyberpt-lwd8328.slack.com/archives/C08MH5MBNF8/p1746953245764529</a:t>
            </a:r>
            <a:endParaRPr sz="1800">
              <a:solidFill>
                <a:schemeClr val="dk2"/>
              </a:solidFill>
              <a:highlight>
                <a:srgbClr val="F1C232"/>
              </a:highlight>
            </a:endParaRPr>
          </a:p>
          <a:p>
            <a:pPr indent="0" lvl="0" marL="457200" rtl="0" algn="l">
              <a:spcBef>
                <a:spcPts val="0"/>
              </a:spcBef>
              <a:spcAft>
                <a:spcPts val="0"/>
              </a:spcAft>
              <a:buNone/>
            </a:pPr>
            <a:r>
              <a:t/>
            </a:r>
            <a:endParaRPr sz="1800">
              <a:solidFill>
                <a:schemeClr val="dk2"/>
              </a:solidFill>
              <a:highlight>
                <a:srgbClr val="F1C232"/>
              </a:highlight>
            </a:endParaRPr>
          </a:p>
          <a:p>
            <a:pPr indent="0" lvl="0" marL="457200" rtl="0" algn="l">
              <a:spcBef>
                <a:spcPts val="0"/>
              </a:spcBef>
              <a:spcAft>
                <a:spcPts val="0"/>
              </a:spcAft>
              <a:buNone/>
            </a:pPr>
            <a:r>
              <a:t/>
            </a:r>
            <a:endParaRPr sz="18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